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9"/>
  </p:notesMasterIdLst>
  <p:sldIdLst>
    <p:sldId id="256" r:id="rId5"/>
    <p:sldId id="260" r:id="rId6"/>
    <p:sldId id="258" r:id="rId7"/>
    <p:sldId id="259" r:id="rId8"/>
  </p:sldIdLst>
  <p:sldSz cx="10693400" cy="7556500"/>
  <p:notesSz cx="6858000" cy="9144000"/>
  <p:embeddedFontLst>
    <p:embeddedFont>
      <p:font typeface="Montserrat" panose="00000500000000000000" pitchFamily="2" charset="0"/>
      <p:regular r:id="rId10"/>
      <p:bold r:id="rId11"/>
      <p:italic r:id="rId12"/>
      <p:boldItalic r:id="rId13"/>
    </p:embeddedFont>
    <p:embeddedFont>
      <p:font typeface="Montserrat Bold" panose="00000800000000000000" pitchFamily="2" charset="0"/>
      <p:regular r:id="rId14"/>
      <p:bold r:id="rId15"/>
    </p:embeddedFont>
    <p:embeddedFont>
      <p:font typeface="Montserrat Classic" panose="020B0604020202020204" charset="0"/>
      <p:regular r:id="rId16"/>
    </p:embeddedFont>
    <p:embeddedFont>
      <p:font typeface="Montserrat Semi-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7983C0-2207-F933-E2F2-74AB2AC18B02}" v="17" dt="2026-06-10T19:36:43.8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95" d="100"/>
          <a:sy n="95" d="100"/>
        </p:scale>
        <p:origin x="160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customXml" Target="../customXml/item2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23" Type="http://schemas.microsoft.com/office/2015/10/relationships/revisionInfo" Target="revisionInfo.xml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gence.exploria" userId="S::agence.exploria_gmail.com#ext#@actiwork.onmicrosoft.com::9d5f39f0-66ce-4cd8-87b5-54d438afd801" providerId="AD" clId="Web-{B27983C0-2207-F933-E2F2-74AB2AC18B02}"/>
    <pc:docChg chg="modSld">
      <pc:chgData name="agence.exploria" userId="S::agence.exploria_gmail.com#ext#@actiwork.onmicrosoft.com::9d5f39f0-66ce-4cd8-87b5-54d438afd801" providerId="AD" clId="Web-{B27983C0-2207-F933-E2F2-74AB2AC18B02}" dt="2026-06-10T19:36:43.813" v="16" actId="14100"/>
      <pc:docMkLst>
        <pc:docMk/>
      </pc:docMkLst>
      <pc:sldChg chg="modSp">
        <pc:chgData name="agence.exploria" userId="S::agence.exploria_gmail.com#ext#@actiwork.onmicrosoft.com::9d5f39f0-66ce-4cd8-87b5-54d438afd801" providerId="AD" clId="Web-{B27983C0-2207-F933-E2F2-74AB2AC18B02}" dt="2026-06-10T19:36:43.813" v="16" actId="14100"/>
        <pc:sldMkLst>
          <pc:docMk/>
          <pc:sldMk cId="0" sldId="256"/>
        </pc:sldMkLst>
        <pc:spChg chg="mod">
          <ac:chgData name="agence.exploria" userId="S::agence.exploria_gmail.com#ext#@actiwork.onmicrosoft.com::9d5f39f0-66ce-4cd8-87b5-54d438afd801" providerId="AD" clId="Web-{B27983C0-2207-F933-E2F2-74AB2AC18B02}" dt="2026-06-10T19:36:43.813" v="16" actId="14100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FB801A-CFE0-4B55-96F4-ADF49D2C37EF}" type="datetimeFigureOut">
              <a:rPr lang="fr-FR" smtClean="0"/>
              <a:t>10/06/2026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44600" y="1143000"/>
            <a:ext cx="4368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D5984-929E-4E11-8351-5F6F398185F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1457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11.png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82057" y="82173"/>
            <a:ext cx="3740588" cy="7315659"/>
          </a:xfrm>
          <a:custGeom>
            <a:avLst/>
            <a:gdLst/>
            <a:ahLst/>
            <a:cxnLst/>
            <a:rect l="l" t="t" r="r" b="b"/>
            <a:pathLst>
              <a:path w="3885336" h="7560000">
                <a:moveTo>
                  <a:pt x="0" y="0"/>
                </a:moveTo>
                <a:lnTo>
                  <a:pt x="3885336" y="0"/>
                </a:lnTo>
                <a:lnTo>
                  <a:pt x="3885336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1545" t="-9363" r="-157651" b="-8277"/>
            </a:stretch>
          </a:blipFill>
        </p:spPr>
        <p:txBody>
          <a:bodyPr/>
          <a:lstStyle/>
          <a:p>
            <a:endParaRPr lang="fr-FR" dirty="0"/>
          </a:p>
        </p:txBody>
      </p:sp>
      <p:grpSp>
        <p:nvGrpSpPr>
          <p:cNvPr id="3" name="Group 3"/>
          <p:cNvGrpSpPr/>
          <p:nvPr/>
        </p:nvGrpSpPr>
        <p:grpSpPr>
          <a:xfrm rot="1827943">
            <a:off x="4472869" y="4723170"/>
            <a:ext cx="292333" cy="509370"/>
            <a:chOff x="0" y="0"/>
            <a:chExt cx="389777" cy="67916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 l="33915" r="33915"/>
            <a:stretch>
              <a:fillRect/>
            </a:stretch>
          </p:blipFill>
          <p:spPr>
            <a:xfrm>
              <a:off x="0" y="0"/>
              <a:ext cx="389777" cy="679160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>
            <a:off x="0" y="4533742"/>
            <a:ext cx="4619035" cy="3026258"/>
            <a:chOff x="0" y="0"/>
            <a:chExt cx="1806054" cy="11832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06054" cy="1183274"/>
            </a:xfrm>
            <a:custGeom>
              <a:avLst/>
              <a:gdLst/>
              <a:ahLst/>
              <a:cxnLst/>
              <a:rect l="l" t="t" r="r" b="b"/>
              <a:pathLst>
                <a:path w="1806054" h="1183274">
                  <a:moveTo>
                    <a:pt x="0" y="0"/>
                  </a:moveTo>
                  <a:lnTo>
                    <a:pt x="1806054" y="0"/>
                  </a:lnTo>
                  <a:lnTo>
                    <a:pt x="1806054" y="1183274"/>
                  </a:lnTo>
                  <a:lnTo>
                    <a:pt x="0" y="1183274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806054" cy="1202325"/>
            </a:xfrm>
            <a:prstGeom prst="rect">
              <a:avLst/>
            </a:prstGeom>
          </p:spPr>
          <p:txBody>
            <a:bodyPr lIns="46561" tIns="46561" rIns="46561" bIns="46561" rtlCol="0" anchor="ctr"/>
            <a:lstStyle/>
            <a:p>
              <a:pPr algn="ctr">
                <a:lnSpc>
                  <a:spcPts val="1283"/>
                </a:lnSpc>
              </a:pPr>
              <a:endParaRPr dirty="0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928027" y="5265587"/>
            <a:ext cx="1159409" cy="1159404"/>
            <a:chOff x="0" y="0"/>
            <a:chExt cx="6350000" cy="63499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 dirty="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56000" y="6558073"/>
            <a:ext cx="1503462" cy="364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1300" b="1" dirty="0">
                <a:solidFill>
                  <a:srgbClr val="000000"/>
                </a:solidFill>
                <a:ea typeface="Montserrat Semi-Bold"/>
                <a:cs typeface="Montserrat Semi-Bold"/>
                <a:sym typeface="Montserrat Semi-Bold"/>
              </a:rPr>
              <a:t>Nadia</a:t>
            </a:r>
          </a:p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1300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+33 4 72 01 05 69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27300" y="6563972"/>
            <a:ext cx="1241078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1300" b="1" dirty="0">
                <a:solidFill>
                  <a:srgbClr val="000000"/>
                </a:solidFill>
                <a:ea typeface="Montserrat Bold"/>
                <a:cs typeface="Montserrat Bold"/>
                <a:sym typeface="Montserrat Bold"/>
              </a:rPr>
              <a:t>Jérémie</a:t>
            </a:r>
          </a:p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1300" dirty="0">
                <a:solidFill>
                  <a:srgbClr val="000000"/>
                </a:solidFill>
                <a:ea typeface="Montserrat"/>
                <a:cs typeface="Montserrat"/>
                <a:sym typeface="Montserrat"/>
              </a:rPr>
              <a:t>+33 7 77 83 24 87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6000" y="2339275"/>
            <a:ext cx="4590700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68"/>
              </a:lnSpc>
              <a:spcBef>
                <a:spcPct val="0"/>
              </a:spcBef>
            </a:pPr>
            <a:r>
              <a:rPr lang="en-US" sz="3000" spc="-123" dirty="0">
                <a:solidFill>
                  <a:srgbClr val="2D2A26"/>
                </a:solidFill>
                <a:latin typeface="+mj-lt"/>
                <a:ea typeface="Montserrat Classic"/>
                <a:cs typeface="Montserrat Classic"/>
                <a:sym typeface="Montserrat Classic"/>
              </a:rPr>
              <a:t>PLANS DE VALIDATION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6000" y="2731885"/>
            <a:ext cx="4590700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68"/>
              </a:lnSpc>
              <a:spcBef>
                <a:spcPct val="0"/>
              </a:spcBef>
            </a:pPr>
            <a:r>
              <a:rPr lang="en-US" sz="3000" spc="-123" dirty="0">
                <a:solidFill>
                  <a:srgbClr val="2D2A26"/>
                </a:solidFill>
                <a:latin typeface="+mj-lt"/>
                <a:ea typeface="Montserrat Classic"/>
                <a:cs typeface="Montserrat Classic"/>
                <a:sym typeface="Montserrat Classic"/>
              </a:rPr>
              <a:t>N°LD82040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6000" y="3290104"/>
            <a:ext cx="4590700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1"/>
              </a:lnSpc>
              <a:spcBef>
                <a:spcPct val="0"/>
              </a:spcBef>
            </a:pPr>
            <a:r>
              <a:rPr lang="en-US" sz="2200" dirty="0">
                <a:solidFill>
                  <a:srgbClr val="E11F1B"/>
                </a:solidFill>
                <a:ea typeface="Montserrat"/>
                <a:cs typeface="Montserrat"/>
                <a:sym typeface="Montserrat"/>
              </a:rPr>
              <a:t>Monte-charge non </a:t>
            </a:r>
            <a:r>
              <a:rPr lang="en-US" sz="2200" dirty="0" err="1">
                <a:solidFill>
                  <a:srgbClr val="E11F1B"/>
                </a:solidFill>
                <a:ea typeface="Montserrat"/>
                <a:cs typeface="Montserrat"/>
                <a:sym typeface="Montserrat"/>
              </a:rPr>
              <a:t>accompagné</a:t>
            </a:r>
            <a:endParaRPr lang="en-US" sz="2200" dirty="0">
              <a:solidFill>
                <a:srgbClr val="E11F1B"/>
              </a:solidFill>
              <a:ea typeface="Montserrat"/>
              <a:cs typeface="Montserrat"/>
              <a:sym typeface="Montserrat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0" y="4234148"/>
            <a:ext cx="4874152" cy="599188"/>
            <a:chOff x="0" y="0"/>
            <a:chExt cx="1905805" cy="23428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05806" cy="234284"/>
            </a:xfrm>
            <a:custGeom>
              <a:avLst/>
              <a:gdLst/>
              <a:ahLst/>
              <a:cxnLst/>
              <a:rect l="l" t="t" r="r" b="b"/>
              <a:pathLst>
                <a:path w="1905806" h="234284">
                  <a:moveTo>
                    <a:pt x="0" y="0"/>
                  </a:moveTo>
                  <a:lnTo>
                    <a:pt x="1905806" y="0"/>
                  </a:lnTo>
                  <a:lnTo>
                    <a:pt x="1905806" y="234284"/>
                  </a:lnTo>
                  <a:lnTo>
                    <a:pt x="0" y="234284"/>
                  </a:lnTo>
                  <a:close/>
                </a:path>
              </a:pathLst>
            </a:custGeom>
            <a:gradFill rotWithShape="1">
              <a:gsLst>
                <a:gs pos="0">
                  <a:srgbClr val="B8110E">
                    <a:alpha val="100000"/>
                  </a:srgbClr>
                </a:gs>
                <a:gs pos="100000">
                  <a:srgbClr val="E11F1B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19050"/>
              <a:ext cx="1905805" cy="215234"/>
            </a:xfrm>
            <a:prstGeom prst="rect">
              <a:avLst/>
            </a:prstGeom>
          </p:spPr>
          <p:txBody>
            <a:bodyPr lIns="46561" tIns="46561" rIns="46561" bIns="46561" rtlCol="0" anchor="ctr"/>
            <a:lstStyle/>
            <a:p>
              <a:pPr algn="ctr">
                <a:lnSpc>
                  <a:spcPts val="1374"/>
                </a:lnSpc>
              </a:pPr>
              <a:endParaRPr dirty="0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74240" y="4414091"/>
            <a:ext cx="3089678" cy="269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ea typeface="Montserrat Classic"/>
                <a:cs typeface="Montserrat Classic"/>
                <a:sym typeface="Montserrat Classic"/>
              </a:rPr>
              <a:t>VOS CONTACTS PROJET</a:t>
            </a:r>
          </a:p>
        </p:txBody>
      </p:sp>
      <p:sp>
        <p:nvSpPr>
          <p:cNvPr id="21" name="Freeform 21"/>
          <p:cNvSpPr/>
          <p:nvPr/>
        </p:nvSpPr>
        <p:spPr>
          <a:xfrm>
            <a:off x="756000" y="4365114"/>
            <a:ext cx="341600" cy="341600"/>
          </a:xfrm>
          <a:custGeom>
            <a:avLst/>
            <a:gdLst/>
            <a:ahLst/>
            <a:cxnLst/>
            <a:rect l="l" t="t" r="r" b="b"/>
            <a:pathLst>
              <a:path w="341600" h="341600">
                <a:moveTo>
                  <a:pt x="0" y="0"/>
                </a:moveTo>
                <a:lnTo>
                  <a:pt x="341600" y="0"/>
                </a:lnTo>
                <a:lnTo>
                  <a:pt x="341600" y="341600"/>
                </a:lnTo>
                <a:lnTo>
                  <a:pt x="0" y="341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22" name="Freeform 22"/>
          <p:cNvSpPr/>
          <p:nvPr/>
        </p:nvSpPr>
        <p:spPr>
          <a:xfrm>
            <a:off x="756000" y="756000"/>
            <a:ext cx="2145471" cy="1197563"/>
          </a:xfrm>
          <a:custGeom>
            <a:avLst/>
            <a:gdLst/>
            <a:ahLst/>
            <a:cxnLst/>
            <a:rect l="l" t="t" r="r" b="b"/>
            <a:pathLst>
              <a:path w="2145471" h="1197563">
                <a:moveTo>
                  <a:pt x="0" y="0"/>
                </a:moveTo>
                <a:lnTo>
                  <a:pt x="2145471" y="0"/>
                </a:lnTo>
                <a:lnTo>
                  <a:pt x="2145471" y="1197563"/>
                </a:lnTo>
                <a:lnTo>
                  <a:pt x="0" y="11975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230038DD-7E8F-1F43-CD89-AE015D0E40E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7594" y="5265587"/>
            <a:ext cx="1163709" cy="1163709"/>
          </a:xfrm>
          <a:prstGeom prst="flowChartConnector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692000" cy="756000"/>
            <a:chOff x="0" y="0"/>
            <a:chExt cx="3831771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31772" cy="270933"/>
            </a:xfrm>
            <a:custGeom>
              <a:avLst/>
              <a:gdLst/>
              <a:ahLst/>
              <a:cxnLst/>
              <a:rect l="l" t="t" r="r" b="b"/>
              <a:pathLst>
                <a:path w="3831772" h="270933">
                  <a:moveTo>
                    <a:pt x="0" y="0"/>
                  </a:moveTo>
                  <a:lnTo>
                    <a:pt x="3831772" y="0"/>
                  </a:lnTo>
                  <a:lnTo>
                    <a:pt x="383177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3831771" cy="251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00"/>
                </a:lnSpc>
              </a:pPr>
              <a:endParaRPr lang="fr-FR" noProof="0"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09834" y="179348"/>
            <a:ext cx="5887351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fr-FR" sz="2500" noProof="0" dirty="0">
                <a:solidFill>
                  <a:srgbClr val="2D2A26"/>
                </a:solidFill>
                <a:ea typeface="Montserrat Classic"/>
                <a:cs typeface="Montserrat Classic"/>
                <a:sym typeface="Montserrat Classic"/>
              </a:rPr>
              <a:t>PLANS DE VALIDATION</a:t>
            </a:r>
          </a:p>
        </p:txBody>
      </p:sp>
      <p:sp>
        <p:nvSpPr>
          <p:cNvPr id="6" name="Freeform 6"/>
          <p:cNvSpPr/>
          <p:nvPr/>
        </p:nvSpPr>
        <p:spPr>
          <a:xfrm rot="-6301028">
            <a:off x="986044" y="330141"/>
            <a:ext cx="519580" cy="83081"/>
          </a:xfrm>
          <a:custGeom>
            <a:avLst/>
            <a:gdLst/>
            <a:ahLst/>
            <a:cxnLst/>
            <a:rect l="l" t="t" r="r" b="b"/>
            <a:pathLst>
              <a:path w="519580" h="83081">
                <a:moveTo>
                  <a:pt x="0" y="0"/>
                </a:moveTo>
                <a:lnTo>
                  <a:pt x="519580" y="0"/>
                </a:lnTo>
                <a:lnTo>
                  <a:pt x="519580" y="83081"/>
                </a:lnTo>
                <a:lnTo>
                  <a:pt x="0" y="83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514"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7" name="AutoShape 7"/>
          <p:cNvSpPr/>
          <p:nvPr/>
        </p:nvSpPr>
        <p:spPr>
          <a:xfrm>
            <a:off x="1134728" y="116853"/>
            <a:ext cx="139242" cy="527932"/>
          </a:xfrm>
          <a:prstGeom prst="line">
            <a:avLst/>
          </a:prstGeom>
          <a:ln w="9525" cap="flat">
            <a:solidFill>
              <a:srgbClr val="2D2A2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Freeform 8"/>
          <p:cNvSpPr/>
          <p:nvPr/>
        </p:nvSpPr>
        <p:spPr>
          <a:xfrm>
            <a:off x="370415" y="131869"/>
            <a:ext cx="492263" cy="492263"/>
          </a:xfrm>
          <a:custGeom>
            <a:avLst/>
            <a:gdLst/>
            <a:ahLst/>
            <a:cxnLst/>
            <a:rect l="l" t="t" r="r" b="b"/>
            <a:pathLst>
              <a:path w="492263" h="492263">
                <a:moveTo>
                  <a:pt x="0" y="0"/>
                </a:moveTo>
                <a:lnTo>
                  <a:pt x="492262" y="0"/>
                </a:lnTo>
                <a:lnTo>
                  <a:pt x="492262" y="492262"/>
                </a:lnTo>
                <a:lnTo>
                  <a:pt x="0" y="4922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grpSp>
        <p:nvGrpSpPr>
          <p:cNvPr id="9" name="Group 9"/>
          <p:cNvGrpSpPr/>
          <p:nvPr/>
        </p:nvGrpSpPr>
        <p:grpSpPr>
          <a:xfrm>
            <a:off x="0" y="1038779"/>
            <a:ext cx="5202684" cy="444559"/>
            <a:chOff x="0" y="0"/>
            <a:chExt cx="1556374" cy="12480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56374" cy="124802"/>
            </a:xfrm>
            <a:custGeom>
              <a:avLst/>
              <a:gdLst/>
              <a:ahLst/>
              <a:cxnLst/>
              <a:rect l="l" t="t" r="r" b="b"/>
              <a:pathLst>
                <a:path w="1556374" h="124802">
                  <a:moveTo>
                    <a:pt x="0" y="0"/>
                  </a:moveTo>
                  <a:lnTo>
                    <a:pt x="1556374" y="0"/>
                  </a:lnTo>
                  <a:lnTo>
                    <a:pt x="1556374" y="124802"/>
                  </a:lnTo>
                  <a:lnTo>
                    <a:pt x="0" y="124802"/>
                  </a:lnTo>
                  <a:close/>
                </a:path>
              </a:pathLst>
            </a:custGeom>
            <a:gradFill rotWithShape="1">
              <a:gsLst>
                <a:gs pos="0">
                  <a:srgbClr val="B8110E">
                    <a:alpha val="100000"/>
                  </a:srgbClr>
                </a:gs>
                <a:gs pos="100000">
                  <a:srgbClr val="E11F1B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1556374" cy="105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00"/>
                </a:lnSpc>
              </a:pPr>
              <a:endParaRPr lang="fr-FR" noProof="0" dirty="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676370" y="1762110"/>
            <a:ext cx="4607299" cy="4311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199"/>
              </a:lnSpc>
            </a:pPr>
            <a:r>
              <a:rPr lang="fr-FR" sz="1200" b="1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 Bold"/>
              </a:rPr>
              <a:t>Fonctionnement</a:t>
            </a:r>
          </a:p>
          <a:p>
            <a:pPr marL="215899" lvl="1" indent="-107950" algn="just">
              <a:lnSpc>
                <a:spcPts val="1199"/>
              </a:lnSpc>
              <a:buFont typeface="Arial"/>
              <a:buChar char="•"/>
            </a:pP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Commandes : Boutons d’appel et envoi à chaque étage avec arrêt d’urgence et indicateur lumineux de position.</a:t>
            </a:r>
          </a:p>
          <a:p>
            <a:pPr marL="215899" lvl="1" indent="-107950" algn="just">
              <a:lnSpc>
                <a:spcPts val="1199"/>
              </a:lnSpc>
              <a:buFont typeface="Arial"/>
              <a:buChar char="•"/>
            </a:pP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Tension de commande : 24 volts - IP 54</a:t>
            </a:r>
          </a:p>
          <a:p>
            <a:pPr marL="215899" lvl="1" indent="-107950" algn="just">
              <a:lnSpc>
                <a:spcPts val="1199"/>
              </a:lnSpc>
              <a:buFont typeface="Arial"/>
              <a:buChar char="•"/>
            </a:pP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Cycles de fonctionnement : 30.000 cycles/an</a:t>
            </a:r>
          </a:p>
          <a:p>
            <a:pPr algn="just">
              <a:lnSpc>
                <a:spcPts val="1199"/>
              </a:lnSpc>
            </a:pPr>
            <a:endParaRPr lang="fr-FR" sz="1200" noProof="0" dirty="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Montserrat"/>
            </a:endParaRPr>
          </a:p>
          <a:p>
            <a:pPr algn="just">
              <a:lnSpc>
                <a:spcPts val="1199"/>
              </a:lnSpc>
            </a:pPr>
            <a:r>
              <a:rPr lang="fr-FR" sz="1200" b="1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 Bold"/>
              </a:rPr>
              <a:t>Détails et caractéristiques techniques</a:t>
            </a:r>
          </a:p>
          <a:p>
            <a:pPr marL="215899" lvl="1" indent="-107950" algn="just">
              <a:lnSpc>
                <a:spcPts val="1199"/>
              </a:lnSpc>
              <a:buFont typeface="Arial"/>
              <a:buChar char="•"/>
            </a:pP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Type de guidage : </a:t>
            </a:r>
            <a:r>
              <a:rPr lang="fr-FR" sz="12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double</a:t>
            </a: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 colonne </a:t>
            </a:r>
          </a:p>
          <a:p>
            <a:pPr marL="215899" lvl="1" indent="-107950" algn="just">
              <a:lnSpc>
                <a:spcPts val="1199"/>
              </a:lnSpc>
              <a:buFont typeface="Arial"/>
              <a:buChar char="•"/>
            </a:pP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Vérins hydrauliques type simple effet</a:t>
            </a:r>
          </a:p>
          <a:p>
            <a:pPr marL="215899" lvl="1" indent="-107950" algn="just">
              <a:lnSpc>
                <a:spcPts val="1199"/>
              </a:lnSpc>
              <a:buFont typeface="Arial"/>
              <a:buChar char="•"/>
            </a:pP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Alimentation : 400 volts 3 Phases + Neutre + Terre</a:t>
            </a:r>
          </a:p>
          <a:p>
            <a:pPr marL="215899" lvl="1" indent="-107950" algn="just">
              <a:lnSpc>
                <a:spcPts val="1199"/>
              </a:lnSpc>
              <a:buFont typeface="Arial"/>
              <a:buChar char="•"/>
            </a:pP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Armoire de commande et groupe hydraulique : 1000 mm x 800 mm H 1600 mm</a:t>
            </a:r>
          </a:p>
          <a:p>
            <a:pPr algn="just">
              <a:lnSpc>
                <a:spcPts val="1199"/>
              </a:lnSpc>
            </a:pPr>
            <a:endParaRPr lang="fr-FR" sz="1200" noProof="0" dirty="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Montserrat"/>
            </a:endParaRPr>
          </a:p>
          <a:p>
            <a:pPr algn="just">
              <a:lnSpc>
                <a:spcPts val="1199"/>
              </a:lnSpc>
            </a:pPr>
            <a:r>
              <a:rPr lang="fr-FR" sz="1200" b="1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 Bold"/>
              </a:rPr>
              <a:t>Prérequis (à votre charge)</a:t>
            </a:r>
          </a:p>
          <a:p>
            <a:pPr marL="215899" lvl="1" indent="-107950" algn="just">
              <a:lnSpc>
                <a:spcPts val="1199"/>
              </a:lnSpc>
              <a:buFont typeface="Arial"/>
              <a:buChar char="•"/>
            </a:pP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Circuit d’alimentation : 1 câble électrique d’environ 3 mètres, section 5g </a:t>
            </a:r>
            <a:r>
              <a:rPr lang="fr-FR" sz="12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4</a:t>
            </a: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mm²  en attente à l’emplacement de l’armoire, groupe hydraulique</a:t>
            </a:r>
          </a:p>
          <a:p>
            <a:pPr marL="215899" lvl="1" indent="-107950" algn="just">
              <a:lnSpc>
                <a:spcPts val="1199"/>
              </a:lnSpc>
              <a:buFont typeface="Arial"/>
              <a:buChar char="•"/>
            </a:pP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Protection électrique : Disjoncteur tétrapolaire (Phase et Neutre) 25A courbe D - Différentiel 300 mA type A </a:t>
            </a:r>
          </a:p>
          <a:p>
            <a:pPr marL="215899" lvl="1" indent="-107950" algn="just">
              <a:lnSpc>
                <a:spcPts val="1199"/>
              </a:lnSpc>
              <a:buFont typeface="Arial"/>
              <a:buChar char="•"/>
            </a:pP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Chantier : Cheminement accès dégagé et zone de stockage à proximité de l’espace de travail</a:t>
            </a:r>
          </a:p>
          <a:p>
            <a:pPr algn="just">
              <a:lnSpc>
                <a:spcPts val="1199"/>
              </a:lnSpc>
            </a:pPr>
            <a:endParaRPr lang="fr-FR" sz="1200" noProof="0" dirty="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Montserrat"/>
            </a:endParaRPr>
          </a:p>
          <a:p>
            <a:pPr algn="just">
              <a:lnSpc>
                <a:spcPts val="1199"/>
              </a:lnSpc>
            </a:pPr>
            <a:r>
              <a:rPr lang="fr-FR" sz="1200" b="1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 Bold"/>
              </a:rPr>
              <a:t>Rappel : </a:t>
            </a: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Le sol aura une résistance au poinçonnement minimal de 45 kg/cm², emplacement et profondeur des canalisations supérieur à 100 mm, un défaut de planéité inférieur à 5 mm sous une règle de 2 m, avec un maximum de 20 mm entre le point le plus haut et le point le plus bas. </a:t>
            </a:r>
          </a:p>
          <a:p>
            <a:pPr algn="just">
              <a:lnSpc>
                <a:spcPts val="1199"/>
              </a:lnSpc>
            </a:pP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La qualité du béton et dalle requise, épaisseur minimale de 160 mm avec béton dosé à 350 kg/m3.</a:t>
            </a:r>
          </a:p>
          <a:p>
            <a:pPr algn="just">
              <a:lnSpc>
                <a:spcPts val="1199"/>
              </a:lnSpc>
            </a:pP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En cas d’installation en fosse, veuillez vous référer à l’annexe jointe.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09733" y="1762110"/>
            <a:ext cx="4607299" cy="4003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199"/>
              </a:lnSpc>
            </a:pPr>
            <a:r>
              <a:rPr lang="fr-FR" sz="1200" b="1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 Bold"/>
              </a:rPr>
              <a:t> Modèle</a:t>
            </a:r>
          </a:p>
          <a:p>
            <a:pPr marL="215899" lvl="1" indent="-107950" algn="just">
              <a:lnSpc>
                <a:spcPts val="1199"/>
              </a:lnSpc>
              <a:buFont typeface="Arial"/>
              <a:buChar char="•"/>
            </a:pP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Capacité de charge : 1000 kg</a:t>
            </a:r>
          </a:p>
          <a:p>
            <a:pPr marL="215899" lvl="1" indent="-107950" algn="just">
              <a:lnSpc>
                <a:spcPts val="1199"/>
              </a:lnSpc>
              <a:buFont typeface="Arial"/>
              <a:buChar char="•"/>
            </a:pP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Dimensions plateforme : </a:t>
            </a:r>
            <a:r>
              <a:rPr lang="fr-FR" sz="12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200</a:t>
            </a: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0 x 1</a:t>
            </a:r>
            <a:r>
              <a:rPr lang="fr-FR" sz="12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5</a:t>
            </a: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00 mm</a:t>
            </a:r>
          </a:p>
          <a:p>
            <a:pPr marL="215899" lvl="1" indent="-107950" algn="just">
              <a:lnSpc>
                <a:spcPts val="1199"/>
              </a:lnSpc>
              <a:buFont typeface="Arial"/>
              <a:buChar char="•"/>
            </a:pP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Course totale : </a:t>
            </a:r>
            <a:r>
              <a:rPr lang="fr-FR" sz="12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3930</a:t>
            </a: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 mm</a:t>
            </a:r>
          </a:p>
          <a:p>
            <a:pPr marL="215899" lvl="1" indent="-107950" algn="just">
              <a:lnSpc>
                <a:spcPts val="1199"/>
              </a:lnSpc>
              <a:buFont typeface="Arial"/>
              <a:buChar char="•"/>
            </a:pP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Nombre de niveaux : 2 (0 - </a:t>
            </a:r>
            <a:r>
              <a:rPr lang="fr-FR" sz="12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393</a:t>
            </a: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0 mm)</a:t>
            </a:r>
          </a:p>
          <a:p>
            <a:pPr marL="215899" lvl="1" indent="-107950" algn="just">
              <a:lnSpc>
                <a:spcPts val="1199"/>
              </a:lnSpc>
              <a:buFont typeface="Arial"/>
              <a:buChar char="•"/>
            </a:pP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Nombre d’accès : 2 (traversant)</a:t>
            </a:r>
          </a:p>
          <a:p>
            <a:pPr marL="215899" lvl="1" indent="-107950" algn="just">
              <a:lnSpc>
                <a:spcPts val="1199"/>
              </a:lnSpc>
              <a:buFont typeface="Arial"/>
              <a:buChar char="•"/>
            </a:pP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Structure autoportée : Fixation au sol et au niveau</a:t>
            </a:r>
          </a:p>
          <a:p>
            <a:pPr marL="215899" lvl="1" indent="-107950" algn="just">
              <a:lnSpc>
                <a:spcPts val="1199"/>
              </a:lnSpc>
              <a:buFont typeface="Arial"/>
              <a:buChar char="•"/>
            </a:pPr>
            <a:r>
              <a:rPr lang="fr-FR" sz="12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Fosse : hauteur 150 x largeur 2835 x longueur 1800 mm</a:t>
            </a:r>
            <a:endParaRPr lang="fr-FR" sz="1200" noProof="0" dirty="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Montserrat"/>
            </a:endParaRPr>
          </a:p>
          <a:p>
            <a:pPr marL="215899" lvl="1" indent="-107950" algn="just">
              <a:lnSpc>
                <a:spcPts val="1199"/>
              </a:lnSpc>
              <a:buFont typeface="Arial"/>
              <a:buChar char="•"/>
            </a:pPr>
            <a:r>
              <a:rPr lang="fr-FR" sz="12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Vitesse : 0,15 m/s</a:t>
            </a:r>
            <a:endParaRPr lang="fr-FR" sz="1200" noProof="0" dirty="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Montserrat"/>
            </a:endParaRPr>
          </a:p>
          <a:p>
            <a:pPr algn="just">
              <a:lnSpc>
                <a:spcPts val="1199"/>
              </a:lnSpc>
            </a:pPr>
            <a:endParaRPr lang="fr-FR" sz="1200" noProof="0" dirty="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Montserrat"/>
            </a:endParaRPr>
          </a:p>
          <a:p>
            <a:pPr algn="just">
              <a:lnSpc>
                <a:spcPts val="1199"/>
              </a:lnSpc>
            </a:pPr>
            <a:r>
              <a:rPr lang="fr-FR" sz="1200" b="1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 Bold"/>
              </a:rPr>
              <a:t>Machinerie</a:t>
            </a:r>
          </a:p>
          <a:p>
            <a:pPr marL="215899" lvl="1" indent="-107950" algn="just">
              <a:lnSpc>
                <a:spcPts val="1199"/>
              </a:lnSpc>
              <a:buFont typeface="Arial"/>
              <a:buChar char="•"/>
            </a:pP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Unité hydraulique : déportée avec 3 mètres de flexible</a:t>
            </a:r>
          </a:p>
          <a:p>
            <a:pPr marL="215899" lvl="1" indent="-107950" algn="just">
              <a:lnSpc>
                <a:spcPts val="1199"/>
              </a:lnSpc>
              <a:buFont typeface="Arial"/>
              <a:buChar char="•"/>
            </a:pP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Puissance : 5,5 KW </a:t>
            </a:r>
          </a:p>
          <a:p>
            <a:pPr marL="215899" lvl="1" indent="-107950" algn="just">
              <a:lnSpc>
                <a:spcPts val="1199"/>
              </a:lnSpc>
              <a:buFont typeface="Arial"/>
              <a:buChar char="•"/>
            </a:pP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Taquets antidérive : N</a:t>
            </a:r>
          </a:p>
          <a:p>
            <a:pPr marL="107949" lvl="1" algn="just">
              <a:lnSpc>
                <a:spcPts val="1199"/>
              </a:lnSpc>
            </a:pPr>
            <a:endParaRPr lang="fr-FR" sz="1200" noProof="0" dirty="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Montserrat"/>
            </a:endParaRPr>
          </a:p>
          <a:p>
            <a:pPr algn="just">
              <a:lnSpc>
                <a:spcPts val="1199"/>
              </a:lnSpc>
            </a:pPr>
            <a:r>
              <a:rPr lang="fr-FR" sz="1200" b="1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 Bold"/>
              </a:rPr>
              <a:t>Accès paliers</a:t>
            </a:r>
          </a:p>
          <a:p>
            <a:pPr marL="215899" lvl="1" indent="-107950" algn="just">
              <a:lnSpc>
                <a:spcPts val="1199"/>
              </a:lnSpc>
              <a:buFont typeface="Arial"/>
              <a:buChar char="•"/>
            </a:pP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Niveau 0 : Porte palière 2000 x H 2400 mm</a:t>
            </a:r>
          </a:p>
          <a:p>
            <a:pPr marL="215899" lvl="1" indent="-107950" algn="just">
              <a:lnSpc>
                <a:spcPts val="1199"/>
              </a:lnSpc>
              <a:buFont typeface="Arial"/>
              <a:buChar char="•"/>
            </a:pPr>
            <a:r>
              <a:rPr lang="fr-FR" sz="12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Niveau 1 : Porte palière 2000 x H 2400 mm</a:t>
            </a:r>
          </a:p>
          <a:p>
            <a:pPr algn="just">
              <a:lnSpc>
                <a:spcPts val="1199"/>
              </a:lnSpc>
            </a:pPr>
            <a:endParaRPr lang="fr-FR" sz="1200" noProof="0" dirty="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Montserrat"/>
            </a:endParaRPr>
          </a:p>
          <a:p>
            <a:pPr algn="just">
              <a:lnSpc>
                <a:spcPts val="1199"/>
              </a:lnSpc>
            </a:pPr>
            <a:r>
              <a:rPr lang="fr-FR" sz="1200" b="1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 Bold"/>
              </a:rPr>
              <a:t>Accès plate-forme</a:t>
            </a:r>
          </a:p>
          <a:p>
            <a:pPr marL="215899" lvl="1" indent="-107950" algn="just">
              <a:lnSpc>
                <a:spcPts val="1199"/>
              </a:lnSpc>
              <a:buFont typeface="Arial"/>
              <a:buChar char="•"/>
            </a:pP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Portillons : 2000 x H 1100 mm</a:t>
            </a:r>
            <a:endParaRPr lang="fr-FR" sz="1200" dirty="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Montserrat"/>
            </a:endParaRPr>
          </a:p>
          <a:p>
            <a:pPr marL="215899" lvl="1" indent="-107950" algn="just">
              <a:lnSpc>
                <a:spcPts val="1199"/>
              </a:lnSpc>
              <a:buFont typeface="Arial"/>
              <a:buChar char="•"/>
            </a:pP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Plate-forme : Garde corps 2 cotés hauteur 1100 mm</a:t>
            </a:r>
          </a:p>
          <a:p>
            <a:pPr algn="just">
              <a:lnSpc>
                <a:spcPts val="1199"/>
              </a:lnSpc>
            </a:pPr>
            <a:endParaRPr lang="fr-FR" sz="1200" noProof="0" dirty="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Montserrat"/>
            </a:endParaRPr>
          </a:p>
          <a:p>
            <a:pPr algn="just">
              <a:lnSpc>
                <a:spcPts val="1199"/>
              </a:lnSpc>
            </a:pPr>
            <a:r>
              <a:rPr lang="fr-FR" sz="1200" b="1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 Bold"/>
              </a:rPr>
              <a:t>Finition</a:t>
            </a:r>
          </a:p>
          <a:p>
            <a:pPr marL="215899" lvl="1" indent="-107950" algn="just">
              <a:lnSpc>
                <a:spcPts val="1199"/>
              </a:lnSpc>
              <a:buFont typeface="Arial"/>
              <a:buChar char="•"/>
            </a:pP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Plate-forme : </a:t>
            </a:r>
            <a:r>
              <a:rPr lang="fr-FR" sz="12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Gris anthracite </a:t>
            </a: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RA7016 avec Tôle antidérapante </a:t>
            </a:r>
          </a:p>
          <a:p>
            <a:pPr marL="215899" lvl="1" indent="-107950" algn="just">
              <a:lnSpc>
                <a:spcPts val="1199"/>
              </a:lnSpc>
              <a:buFont typeface="Arial"/>
              <a:buChar char="•"/>
            </a:pP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Couleur structure : Gris anthracite </a:t>
            </a:r>
            <a:r>
              <a:rPr lang="fr-FR" sz="12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RA</a:t>
            </a:r>
            <a:r>
              <a:rPr lang="fr-FR" sz="1200" noProof="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L </a:t>
            </a:r>
            <a:r>
              <a:rPr lang="fr-FR" sz="12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Montserrat"/>
              </a:rPr>
              <a:t>7016</a:t>
            </a:r>
            <a:endParaRPr lang="fr-FR" sz="1200" noProof="0" dirty="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Montserra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82558" y="1198402"/>
            <a:ext cx="4144062" cy="205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fr-FR" noProof="0" dirty="0">
                <a:solidFill>
                  <a:srgbClr val="FFFFFF"/>
                </a:solidFill>
                <a:ea typeface="Montserrat Classic"/>
                <a:cs typeface="Montserrat Classic"/>
                <a:sym typeface="Montserrat Classic"/>
              </a:rPr>
              <a:t>MONTE-CHARGE  NON ACCOMPAGNÉ</a:t>
            </a:r>
          </a:p>
        </p:txBody>
      </p:sp>
      <p:sp>
        <p:nvSpPr>
          <p:cNvPr id="18" name="Freeform 14">
            <a:extLst>
              <a:ext uri="{FF2B5EF4-FFF2-40B4-BE49-F238E27FC236}">
                <a16:creationId xmlns:a16="http://schemas.microsoft.com/office/drawing/2014/main" id="{389C7799-6235-C012-04AF-295BCD0966E7}"/>
              </a:ext>
            </a:extLst>
          </p:cNvPr>
          <p:cNvSpPr/>
          <p:nvPr/>
        </p:nvSpPr>
        <p:spPr>
          <a:xfrm>
            <a:off x="409733" y="6623726"/>
            <a:ext cx="1431767" cy="275941"/>
          </a:xfrm>
          <a:custGeom>
            <a:avLst/>
            <a:gdLst/>
            <a:ahLst/>
            <a:cxnLst/>
            <a:rect l="l" t="t" r="r" b="b"/>
            <a:pathLst>
              <a:path w="1431767" h="275941">
                <a:moveTo>
                  <a:pt x="0" y="0"/>
                </a:moveTo>
                <a:lnTo>
                  <a:pt x="1431767" y="0"/>
                </a:lnTo>
                <a:lnTo>
                  <a:pt x="1431767" y="275941"/>
                </a:lnTo>
                <a:lnTo>
                  <a:pt x="0" y="2759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B26FC93B-353D-2DCC-3FD0-83EA9FF785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196418"/>
              </p:ext>
            </p:extLst>
          </p:nvPr>
        </p:nvGraphicFramePr>
        <p:xfrm>
          <a:off x="4762" y="6470882"/>
          <a:ext cx="10688638" cy="1085618"/>
        </p:xfrm>
        <a:graphic>
          <a:graphicData uri="http://schemas.openxmlformats.org/drawingml/2006/table">
            <a:tbl>
              <a:tblPr/>
              <a:tblGrid>
                <a:gridCol w="2257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1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2482127962"/>
                    </a:ext>
                  </a:extLst>
                </a:gridCol>
              </a:tblGrid>
              <a:tr h="233496">
                <a:tc rowSpan="4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endParaRPr lang="fr-FR" sz="1000" noProof="0" dirty="0">
                        <a:latin typeface="+mn-lt"/>
                      </a:endParaRPr>
                    </a:p>
                    <a:p>
                      <a:pPr algn="ctr">
                        <a:lnSpc>
                          <a:spcPts val="1120"/>
                        </a:lnSpc>
                      </a:pPr>
                      <a:endParaRPr lang="fr-FR" sz="1000" noProof="0" dirty="0">
                        <a:latin typeface="+mn-lt"/>
                      </a:endParaRPr>
                    </a:p>
                    <a:p>
                      <a:pPr algn="ctr">
                        <a:lnSpc>
                          <a:spcPts val="1120"/>
                        </a:lnSpc>
                      </a:pPr>
                      <a:endParaRPr lang="fr-FR" sz="1000" noProof="0" dirty="0">
                        <a:latin typeface="+mn-lt"/>
                      </a:endParaRPr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260 rue des Barronnières</a:t>
                      </a:r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01700 - BEYNOST</a:t>
                      </a:r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Tel. +33 4 78 88 14 00</a:t>
                      </a: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Dessinateur : MB</a:t>
                      </a:r>
                      <a:endParaRPr lang="fr-FR" sz="1000" noProof="0" dirty="0">
                        <a:latin typeface="+mn-l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Date de création : 09/06/2026</a:t>
                      </a:r>
                      <a:endParaRPr lang="fr-FR" sz="1000" noProof="0" dirty="0">
                        <a:latin typeface="+mn-l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Date de création : 25/10/2023</a:t>
                      </a:r>
                      <a:endParaRPr lang="en-US" sz="1100"/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latin typeface="+mn-lt"/>
                        </a:rPr>
                        <a:t>   Bon pour fabrication.</a:t>
                      </a:r>
                    </a:p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latin typeface="+mn-lt"/>
                        </a:rPr>
                        <a:t>   Date :</a:t>
                      </a:r>
                    </a:p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latin typeface="+mn-lt"/>
                        </a:rPr>
                        <a:t>   Signature :</a:t>
                      </a:r>
                    </a:p>
                    <a:p>
                      <a:pPr algn="l">
                        <a:lnSpc>
                          <a:spcPts val="1120"/>
                        </a:lnSpc>
                        <a:defRPr/>
                      </a:pPr>
                      <a:endParaRPr lang="fr-FR" sz="1000" noProof="0" dirty="0">
                        <a:latin typeface="+mn-lt"/>
                      </a:endParaRPr>
                    </a:p>
                    <a:p>
                      <a:pPr algn="l">
                        <a:lnSpc>
                          <a:spcPts val="1120"/>
                        </a:lnSpc>
                        <a:defRPr/>
                      </a:pPr>
                      <a:endParaRPr lang="fr-FR" sz="1000" noProof="0" dirty="0">
                        <a:latin typeface="+mn-lt"/>
                      </a:endParaRPr>
                    </a:p>
                    <a:p>
                      <a:pPr algn="l">
                        <a:lnSpc>
                          <a:spcPts val="1120"/>
                        </a:lnSpc>
                        <a:defRPr/>
                      </a:pPr>
                      <a:endParaRPr lang="fr-FR" sz="1000" noProof="0" dirty="0">
                        <a:latin typeface="+mn-lt"/>
                      </a:endParaRPr>
                    </a:p>
                    <a:p>
                      <a:pPr algn="l">
                        <a:lnSpc>
                          <a:spcPts val="1120"/>
                        </a:lnSpc>
                        <a:defRPr/>
                      </a:pPr>
                      <a:endParaRPr lang="fr-FR" sz="1000" noProof="0" dirty="0">
                        <a:latin typeface="+mn-l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496">
                <a:tc vMerge="1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260 rue des Barronnières</a:t>
                      </a:r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01700 - BEYNOST</a:t>
                      </a:r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Tel. +33 4 78 88 14 00</a:t>
                      </a: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Plan de validation indice : R00</a:t>
                      </a:r>
                      <a:endParaRPr lang="fr-FR" sz="1000" noProof="0" dirty="0">
                        <a:latin typeface="+mn-l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Client : ECEE</a:t>
                      </a:r>
                      <a:endParaRPr lang="fr-FR" sz="1000" noProof="0" dirty="0">
                        <a:latin typeface="+mn-l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Client : DIMMER SARL</a:t>
                      </a:r>
                      <a:endParaRPr lang="en-US" sz="1100"/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endParaRPr lang="en-US" sz="1000" dirty="0">
                        <a:latin typeface="+mn-l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496">
                <a:tc vMerge="1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260 rue des Barronnières</a:t>
                      </a:r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01700 - BEYNOST</a:t>
                      </a:r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Tel. +33 4 78 88 14 00</a:t>
                      </a: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solidFill>
                            <a:schemeClr val="tx1"/>
                          </a:solidFill>
                          <a:ea typeface="Montserrat Classic"/>
                          <a:cs typeface="Montserrat Classic"/>
                          <a:sym typeface="Montserrat Classic"/>
                        </a:rPr>
                        <a:t>MONTE-CHARGE</a:t>
                      </a:r>
                      <a:endParaRPr lang="fr-FR" sz="10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sym typeface="Montserrat"/>
                        </a:rPr>
                        <a:t>LD82040</a:t>
                      </a:r>
                      <a:endParaRPr lang="fr-FR" sz="1000" noProof="0" dirty="0">
                        <a:latin typeface="+mn-l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Page : </a:t>
                      </a:r>
                      <a:fld id="{0E42F1E9-8000-4297-845D-F31D9253C50F}" type="slidenum">
                        <a:rPr lang="fr-FR" sz="1000" noProof="0" smtClean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2</a:t>
                      </a:fld>
                      <a:endParaRPr lang="fr-FR" sz="1000" noProof="0" dirty="0">
                        <a:latin typeface="+mn-l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endParaRPr lang="en-US" sz="1000" dirty="0">
                        <a:latin typeface="+mn-l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30">
                <a:tc vMerge="1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260 rue des Barronnières</a:t>
                      </a:r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01700 - BEYNOST</a:t>
                      </a:r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Tel. +33 4 78 88 14 00</a:t>
                      </a: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Ce plan est la propriété de la Société Actiwork, toute reproduction, même partielle, sans l’accord au</a:t>
                      </a:r>
                    </a:p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préalable</a:t>
                      </a:r>
                      <a:r>
                        <a:rPr lang="fr-FR" sz="10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Montserrat"/>
                        </a:rPr>
                        <a:t> </a:t>
                      </a: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de cette dernière est formellement interdite et passible de poursuites judiciaires.</a:t>
                      </a: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Ce plan est la propriété de la Société Actiwork, toute la représentation même partielle sans l’accord au préalable</a:t>
                      </a: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cette dernière est formellement interdites et est passible de poursuites judiciaires</a:t>
                      </a: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Ce plan est la propriété de la Société Actiwork, toute la représentation même partielle sans l’accord au préalable</a:t>
                      </a: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cette dernière est formellement interdites et est passible de poursuites judiciaires</a:t>
                      </a: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</a:pPr>
                      <a:endParaRPr lang="en-US" sz="1000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692000" cy="756000"/>
            <a:chOff x="0" y="0"/>
            <a:chExt cx="3831771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31772" cy="270933"/>
            </a:xfrm>
            <a:custGeom>
              <a:avLst/>
              <a:gdLst/>
              <a:ahLst/>
              <a:cxnLst/>
              <a:rect l="l" t="t" r="r" b="b"/>
              <a:pathLst>
                <a:path w="3831772" h="270933">
                  <a:moveTo>
                    <a:pt x="0" y="0"/>
                  </a:moveTo>
                  <a:lnTo>
                    <a:pt x="3831772" y="0"/>
                  </a:lnTo>
                  <a:lnTo>
                    <a:pt x="383177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3831771" cy="251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09834" y="179348"/>
            <a:ext cx="5887351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500" dirty="0">
                <a:solidFill>
                  <a:srgbClr val="2D2A26"/>
                </a:solidFill>
                <a:ea typeface="Montserrat Classic"/>
                <a:cs typeface="Montserrat Classic"/>
                <a:sym typeface="Montserrat Classic"/>
              </a:rPr>
              <a:t>PLANS DE VALIDATION</a:t>
            </a:r>
          </a:p>
        </p:txBody>
      </p:sp>
      <p:sp>
        <p:nvSpPr>
          <p:cNvPr id="6" name="Freeform 6"/>
          <p:cNvSpPr/>
          <p:nvPr/>
        </p:nvSpPr>
        <p:spPr>
          <a:xfrm rot="-6301028">
            <a:off x="986044" y="330141"/>
            <a:ext cx="519580" cy="83081"/>
          </a:xfrm>
          <a:custGeom>
            <a:avLst/>
            <a:gdLst/>
            <a:ahLst/>
            <a:cxnLst/>
            <a:rect l="l" t="t" r="r" b="b"/>
            <a:pathLst>
              <a:path w="519580" h="83081">
                <a:moveTo>
                  <a:pt x="0" y="0"/>
                </a:moveTo>
                <a:lnTo>
                  <a:pt x="519580" y="0"/>
                </a:lnTo>
                <a:lnTo>
                  <a:pt x="519580" y="83081"/>
                </a:lnTo>
                <a:lnTo>
                  <a:pt x="0" y="83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514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AutoShape 7"/>
          <p:cNvSpPr/>
          <p:nvPr/>
        </p:nvSpPr>
        <p:spPr>
          <a:xfrm>
            <a:off x="1134728" y="116853"/>
            <a:ext cx="139242" cy="527932"/>
          </a:xfrm>
          <a:prstGeom prst="line">
            <a:avLst/>
          </a:prstGeom>
          <a:ln w="9525" cap="flat">
            <a:solidFill>
              <a:srgbClr val="2D2A2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" name="Freeform 8"/>
          <p:cNvSpPr/>
          <p:nvPr/>
        </p:nvSpPr>
        <p:spPr>
          <a:xfrm>
            <a:off x="370415" y="131869"/>
            <a:ext cx="492263" cy="492263"/>
          </a:xfrm>
          <a:custGeom>
            <a:avLst/>
            <a:gdLst/>
            <a:ahLst/>
            <a:cxnLst/>
            <a:rect l="l" t="t" r="r" b="b"/>
            <a:pathLst>
              <a:path w="492263" h="492263">
                <a:moveTo>
                  <a:pt x="0" y="0"/>
                </a:moveTo>
                <a:lnTo>
                  <a:pt x="492262" y="0"/>
                </a:lnTo>
                <a:lnTo>
                  <a:pt x="492262" y="492262"/>
                </a:lnTo>
                <a:lnTo>
                  <a:pt x="0" y="4922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7FB51B1D-BAE2-022E-3618-A07E67C791E6}"/>
              </a:ext>
            </a:extLst>
          </p:cNvPr>
          <p:cNvSpPr/>
          <p:nvPr/>
        </p:nvSpPr>
        <p:spPr>
          <a:xfrm>
            <a:off x="598455" y="6623726"/>
            <a:ext cx="1431767" cy="275941"/>
          </a:xfrm>
          <a:custGeom>
            <a:avLst/>
            <a:gdLst/>
            <a:ahLst/>
            <a:cxnLst/>
            <a:rect l="l" t="t" r="r" b="b"/>
            <a:pathLst>
              <a:path w="1431767" h="275941">
                <a:moveTo>
                  <a:pt x="0" y="0"/>
                </a:moveTo>
                <a:lnTo>
                  <a:pt x="1431767" y="0"/>
                </a:lnTo>
                <a:lnTo>
                  <a:pt x="1431767" y="275941"/>
                </a:lnTo>
                <a:lnTo>
                  <a:pt x="0" y="2759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aphicFrame>
        <p:nvGraphicFramePr>
          <p:cNvPr id="11" name="Table 13">
            <a:extLst>
              <a:ext uri="{FF2B5EF4-FFF2-40B4-BE49-F238E27FC236}">
                <a16:creationId xmlns:a16="http://schemas.microsoft.com/office/drawing/2014/main" id="{A63287BC-9367-D78D-2913-4761342147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000261"/>
              </p:ext>
            </p:extLst>
          </p:nvPr>
        </p:nvGraphicFramePr>
        <p:xfrm>
          <a:off x="4762" y="6470882"/>
          <a:ext cx="10688638" cy="1085618"/>
        </p:xfrm>
        <a:graphic>
          <a:graphicData uri="http://schemas.openxmlformats.org/drawingml/2006/table">
            <a:tbl>
              <a:tblPr/>
              <a:tblGrid>
                <a:gridCol w="2257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1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2482127962"/>
                    </a:ext>
                  </a:extLst>
                </a:gridCol>
              </a:tblGrid>
              <a:tr h="233496">
                <a:tc rowSpan="4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endParaRPr lang="fr-FR" sz="1000" noProof="0" dirty="0">
                        <a:latin typeface="+mn-lt"/>
                      </a:endParaRPr>
                    </a:p>
                    <a:p>
                      <a:pPr algn="ctr">
                        <a:lnSpc>
                          <a:spcPts val="1120"/>
                        </a:lnSpc>
                      </a:pPr>
                      <a:endParaRPr lang="fr-FR" sz="1000" noProof="0" dirty="0">
                        <a:latin typeface="+mn-lt"/>
                      </a:endParaRPr>
                    </a:p>
                    <a:p>
                      <a:pPr algn="ctr">
                        <a:lnSpc>
                          <a:spcPts val="1120"/>
                        </a:lnSpc>
                      </a:pPr>
                      <a:endParaRPr lang="fr-FR" sz="1000" noProof="0" dirty="0">
                        <a:latin typeface="+mn-lt"/>
                      </a:endParaRPr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260 rue des Barronnières</a:t>
                      </a:r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01700 - BEYNOST</a:t>
                      </a:r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Tel. +33 4 78 88 14 00</a:t>
                      </a: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Dessinateur : MB</a:t>
                      </a:r>
                      <a:endParaRPr lang="fr-FR" sz="1000" noProof="0" dirty="0">
                        <a:latin typeface="+mn-l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Date de création : 09/06/2026</a:t>
                      </a:r>
                      <a:endParaRPr lang="fr-FR" sz="1000" noProof="0" dirty="0">
                        <a:latin typeface="+mn-l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Date de création : 25/10/2023</a:t>
                      </a:r>
                      <a:endParaRPr lang="en-US" sz="1100"/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latin typeface="+mn-lt"/>
                        </a:rPr>
                        <a:t>   Bon pour fabrication.</a:t>
                      </a:r>
                    </a:p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latin typeface="+mn-lt"/>
                        </a:rPr>
                        <a:t>   Date :</a:t>
                      </a:r>
                    </a:p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latin typeface="+mn-lt"/>
                        </a:rPr>
                        <a:t>   Signature :</a:t>
                      </a:r>
                    </a:p>
                    <a:p>
                      <a:pPr algn="l">
                        <a:lnSpc>
                          <a:spcPts val="1120"/>
                        </a:lnSpc>
                        <a:defRPr/>
                      </a:pPr>
                      <a:endParaRPr lang="fr-FR" sz="1000" noProof="0" dirty="0">
                        <a:latin typeface="+mn-lt"/>
                      </a:endParaRPr>
                    </a:p>
                    <a:p>
                      <a:pPr algn="l">
                        <a:lnSpc>
                          <a:spcPts val="1120"/>
                        </a:lnSpc>
                        <a:defRPr/>
                      </a:pPr>
                      <a:endParaRPr lang="fr-FR" sz="1000" noProof="0" dirty="0">
                        <a:latin typeface="+mn-lt"/>
                      </a:endParaRPr>
                    </a:p>
                    <a:p>
                      <a:pPr algn="l">
                        <a:lnSpc>
                          <a:spcPts val="1120"/>
                        </a:lnSpc>
                        <a:defRPr/>
                      </a:pPr>
                      <a:endParaRPr lang="fr-FR" sz="1000" noProof="0" dirty="0">
                        <a:latin typeface="+mn-lt"/>
                      </a:endParaRPr>
                    </a:p>
                    <a:p>
                      <a:pPr algn="l">
                        <a:lnSpc>
                          <a:spcPts val="1120"/>
                        </a:lnSpc>
                        <a:defRPr/>
                      </a:pPr>
                      <a:endParaRPr lang="fr-FR" sz="1000" noProof="0" dirty="0">
                        <a:latin typeface="+mn-l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496">
                <a:tc vMerge="1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260 rue des Barronnières</a:t>
                      </a:r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01700 - BEYNOST</a:t>
                      </a:r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Tel. +33 4 78 88 14 00</a:t>
                      </a: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Plan de validation indice : R00</a:t>
                      </a:r>
                      <a:endParaRPr lang="fr-FR" sz="1000" noProof="0" dirty="0">
                        <a:latin typeface="+mn-l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Client : ECEE</a:t>
                      </a:r>
                      <a:endParaRPr lang="fr-FR" sz="1000" noProof="0" dirty="0">
                        <a:latin typeface="+mn-l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Client : DIMMER SARL</a:t>
                      </a:r>
                      <a:endParaRPr lang="en-US" sz="1100"/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endParaRPr lang="en-US" sz="1000" dirty="0">
                        <a:latin typeface="+mn-l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496">
                <a:tc vMerge="1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260 rue des Barronnières</a:t>
                      </a:r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01700 - BEYNOST</a:t>
                      </a:r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Tel. +33 4 78 88 14 00</a:t>
                      </a: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solidFill>
                            <a:schemeClr val="tx1"/>
                          </a:solidFill>
                          <a:ea typeface="Montserrat Classic"/>
                          <a:cs typeface="Montserrat Classic"/>
                          <a:sym typeface="Montserrat Classic"/>
                        </a:rPr>
                        <a:t>MONTE-CHARGE</a:t>
                      </a:r>
                      <a:endParaRPr lang="fr-FR" sz="10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sym typeface="Montserrat"/>
                        </a:rPr>
                        <a:t>LD82040</a:t>
                      </a:r>
                      <a:endParaRPr lang="fr-FR" sz="1000" noProof="0" dirty="0">
                        <a:latin typeface="+mn-l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Page : </a:t>
                      </a:r>
                      <a:fld id="{0E42F1E9-8000-4297-845D-F31D9253C50F}" type="slidenum">
                        <a:rPr lang="fr-FR" sz="1000" noProof="0" smtClean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3</a:t>
                      </a:fld>
                      <a:endParaRPr lang="fr-FR" sz="1000" noProof="0" dirty="0">
                        <a:latin typeface="+mn-l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endParaRPr lang="en-US" sz="1000" dirty="0">
                        <a:latin typeface="+mn-l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30">
                <a:tc vMerge="1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260 rue des Barronnières</a:t>
                      </a:r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01700 - BEYNOST</a:t>
                      </a:r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Tel. +33 4 78 88 14 00</a:t>
                      </a: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Ce plan est la propriété de la Société Actiwork, toute reproduction, même partielle, sans l’accord au</a:t>
                      </a:r>
                    </a:p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préalable</a:t>
                      </a:r>
                      <a:r>
                        <a:rPr lang="fr-FR" sz="10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Montserrat"/>
                        </a:rPr>
                        <a:t> </a:t>
                      </a: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de cette dernière est formellement interdite et passible de poursuites judiciaires.</a:t>
                      </a: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Ce plan est la propriété de la Société Actiwork, toute la représentation même partielle sans l’accord au préalable</a:t>
                      </a: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cette dernière est formellement interdites et est passible de poursuites judiciaires</a:t>
                      </a: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Ce plan est la propriété de la Société Actiwork, toute la représentation même partielle sans l’accord au préalable</a:t>
                      </a: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cette dernière est formellement interdites et est passible de poursuites judiciaires</a:t>
                      </a: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</a:pPr>
                      <a:endParaRPr lang="en-US" sz="1000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" name="Image 11">
            <a:extLst>
              <a:ext uri="{FF2B5EF4-FFF2-40B4-BE49-F238E27FC236}">
                <a16:creationId xmlns:a16="http://schemas.microsoft.com/office/drawing/2014/main" id="{7415446B-8759-6BA6-37EA-0DBAFAE2E7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04693" y="818495"/>
            <a:ext cx="6684013" cy="56156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692000" cy="756000"/>
            <a:chOff x="0" y="0"/>
            <a:chExt cx="3831771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31772" cy="270933"/>
            </a:xfrm>
            <a:custGeom>
              <a:avLst/>
              <a:gdLst/>
              <a:ahLst/>
              <a:cxnLst/>
              <a:rect l="l" t="t" r="r" b="b"/>
              <a:pathLst>
                <a:path w="3831772" h="270933">
                  <a:moveTo>
                    <a:pt x="0" y="0"/>
                  </a:moveTo>
                  <a:lnTo>
                    <a:pt x="3831772" y="0"/>
                  </a:lnTo>
                  <a:lnTo>
                    <a:pt x="383177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3831771" cy="251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09834" y="179348"/>
            <a:ext cx="5887351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500" dirty="0">
                <a:solidFill>
                  <a:srgbClr val="2D2A26"/>
                </a:solidFill>
                <a:ea typeface="Montserrat Classic"/>
                <a:cs typeface="Montserrat Classic"/>
                <a:sym typeface="Montserrat Classic"/>
              </a:rPr>
              <a:t>PLANS DE VALIDATION</a:t>
            </a:r>
          </a:p>
        </p:txBody>
      </p:sp>
      <p:sp>
        <p:nvSpPr>
          <p:cNvPr id="6" name="Freeform 6"/>
          <p:cNvSpPr/>
          <p:nvPr/>
        </p:nvSpPr>
        <p:spPr>
          <a:xfrm rot="-6301028">
            <a:off x="986044" y="330141"/>
            <a:ext cx="519580" cy="83081"/>
          </a:xfrm>
          <a:custGeom>
            <a:avLst/>
            <a:gdLst/>
            <a:ahLst/>
            <a:cxnLst/>
            <a:rect l="l" t="t" r="r" b="b"/>
            <a:pathLst>
              <a:path w="519580" h="83081">
                <a:moveTo>
                  <a:pt x="0" y="0"/>
                </a:moveTo>
                <a:lnTo>
                  <a:pt x="519580" y="0"/>
                </a:lnTo>
                <a:lnTo>
                  <a:pt x="519580" y="83081"/>
                </a:lnTo>
                <a:lnTo>
                  <a:pt x="0" y="83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514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AutoShape 7"/>
          <p:cNvSpPr/>
          <p:nvPr/>
        </p:nvSpPr>
        <p:spPr>
          <a:xfrm>
            <a:off x="1134728" y="116853"/>
            <a:ext cx="139242" cy="527932"/>
          </a:xfrm>
          <a:prstGeom prst="line">
            <a:avLst/>
          </a:prstGeom>
          <a:ln w="9525" cap="flat">
            <a:solidFill>
              <a:srgbClr val="2D2A2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" name="Freeform 8"/>
          <p:cNvSpPr/>
          <p:nvPr/>
        </p:nvSpPr>
        <p:spPr>
          <a:xfrm>
            <a:off x="370415" y="131869"/>
            <a:ext cx="492263" cy="492263"/>
          </a:xfrm>
          <a:custGeom>
            <a:avLst/>
            <a:gdLst/>
            <a:ahLst/>
            <a:cxnLst/>
            <a:rect l="l" t="t" r="r" b="b"/>
            <a:pathLst>
              <a:path w="492263" h="492263">
                <a:moveTo>
                  <a:pt x="0" y="0"/>
                </a:moveTo>
                <a:lnTo>
                  <a:pt x="492262" y="0"/>
                </a:lnTo>
                <a:lnTo>
                  <a:pt x="492262" y="492262"/>
                </a:lnTo>
                <a:lnTo>
                  <a:pt x="0" y="4922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Freeform 14">
            <a:extLst>
              <a:ext uri="{FF2B5EF4-FFF2-40B4-BE49-F238E27FC236}">
                <a16:creationId xmlns:a16="http://schemas.microsoft.com/office/drawing/2014/main" id="{3E308EBD-945C-1F0F-9936-958C60C6BB1F}"/>
              </a:ext>
            </a:extLst>
          </p:cNvPr>
          <p:cNvSpPr/>
          <p:nvPr/>
        </p:nvSpPr>
        <p:spPr>
          <a:xfrm>
            <a:off x="598455" y="6623726"/>
            <a:ext cx="1431767" cy="275941"/>
          </a:xfrm>
          <a:custGeom>
            <a:avLst/>
            <a:gdLst/>
            <a:ahLst/>
            <a:cxnLst/>
            <a:rect l="l" t="t" r="r" b="b"/>
            <a:pathLst>
              <a:path w="1431767" h="275941">
                <a:moveTo>
                  <a:pt x="0" y="0"/>
                </a:moveTo>
                <a:lnTo>
                  <a:pt x="1431767" y="0"/>
                </a:lnTo>
                <a:lnTo>
                  <a:pt x="1431767" y="275941"/>
                </a:lnTo>
                <a:lnTo>
                  <a:pt x="0" y="2759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aphicFrame>
        <p:nvGraphicFramePr>
          <p:cNvPr id="9" name="Table 13">
            <a:extLst>
              <a:ext uri="{FF2B5EF4-FFF2-40B4-BE49-F238E27FC236}">
                <a16:creationId xmlns:a16="http://schemas.microsoft.com/office/drawing/2014/main" id="{9B29A018-BE5A-A8C5-A922-EE35E74E44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196418"/>
              </p:ext>
            </p:extLst>
          </p:nvPr>
        </p:nvGraphicFramePr>
        <p:xfrm>
          <a:off x="4762" y="6470882"/>
          <a:ext cx="10688638" cy="1085618"/>
        </p:xfrm>
        <a:graphic>
          <a:graphicData uri="http://schemas.openxmlformats.org/drawingml/2006/table">
            <a:tbl>
              <a:tblPr/>
              <a:tblGrid>
                <a:gridCol w="2257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1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2482127962"/>
                    </a:ext>
                  </a:extLst>
                </a:gridCol>
              </a:tblGrid>
              <a:tr h="233496">
                <a:tc rowSpan="4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endParaRPr lang="fr-FR" sz="1000" noProof="0" dirty="0">
                        <a:latin typeface="+mn-lt"/>
                      </a:endParaRPr>
                    </a:p>
                    <a:p>
                      <a:pPr algn="ctr">
                        <a:lnSpc>
                          <a:spcPts val="1120"/>
                        </a:lnSpc>
                      </a:pPr>
                      <a:endParaRPr lang="fr-FR" sz="1000" noProof="0" dirty="0">
                        <a:latin typeface="+mn-lt"/>
                      </a:endParaRPr>
                    </a:p>
                    <a:p>
                      <a:pPr algn="ctr">
                        <a:lnSpc>
                          <a:spcPts val="1120"/>
                        </a:lnSpc>
                      </a:pPr>
                      <a:endParaRPr lang="fr-FR" sz="1000" noProof="0" dirty="0">
                        <a:latin typeface="+mn-lt"/>
                      </a:endParaRPr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260 rue des Barronnières</a:t>
                      </a:r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01700 - BEYNOST</a:t>
                      </a:r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Tel. +33 4 78 88 14 00</a:t>
                      </a: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Dessinateur : MB</a:t>
                      </a:r>
                      <a:endParaRPr lang="fr-FR" sz="1000" noProof="0" dirty="0">
                        <a:latin typeface="+mn-l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Date de création : 09/06/2026</a:t>
                      </a:r>
                      <a:endParaRPr lang="fr-FR" sz="1000" noProof="0" dirty="0">
                        <a:latin typeface="+mn-l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Date de création : 25/10/2023</a:t>
                      </a:r>
                      <a:endParaRPr lang="en-US" sz="1100"/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latin typeface="+mn-lt"/>
                        </a:rPr>
                        <a:t>   Bon pour fabrication.</a:t>
                      </a:r>
                    </a:p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latin typeface="+mn-lt"/>
                        </a:rPr>
                        <a:t>   Date :</a:t>
                      </a:r>
                    </a:p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latin typeface="+mn-lt"/>
                        </a:rPr>
                        <a:t>   Signature :</a:t>
                      </a:r>
                    </a:p>
                    <a:p>
                      <a:pPr algn="l">
                        <a:lnSpc>
                          <a:spcPts val="1120"/>
                        </a:lnSpc>
                        <a:defRPr/>
                      </a:pPr>
                      <a:endParaRPr lang="fr-FR" sz="1000" noProof="0" dirty="0">
                        <a:latin typeface="+mn-lt"/>
                      </a:endParaRPr>
                    </a:p>
                    <a:p>
                      <a:pPr algn="l">
                        <a:lnSpc>
                          <a:spcPts val="1120"/>
                        </a:lnSpc>
                        <a:defRPr/>
                      </a:pPr>
                      <a:endParaRPr lang="fr-FR" sz="1000" noProof="0" dirty="0">
                        <a:latin typeface="+mn-lt"/>
                      </a:endParaRPr>
                    </a:p>
                    <a:p>
                      <a:pPr algn="l">
                        <a:lnSpc>
                          <a:spcPts val="1120"/>
                        </a:lnSpc>
                        <a:defRPr/>
                      </a:pPr>
                      <a:endParaRPr lang="fr-FR" sz="1000" noProof="0" dirty="0">
                        <a:latin typeface="+mn-lt"/>
                      </a:endParaRPr>
                    </a:p>
                    <a:p>
                      <a:pPr algn="l">
                        <a:lnSpc>
                          <a:spcPts val="1120"/>
                        </a:lnSpc>
                        <a:defRPr/>
                      </a:pPr>
                      <a:endParaRPr lang="fr-FR" sz="1000" noProof="0" dirty="0">
                        <a:latin typeface="+mn-l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496">
                <a:tc vMerge="1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260 rue des Barronnières</a:t>
                      </a:r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01700 - BEYNOST</a:t>
                      </a:r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Tel. +33 4 78 88 14 00</a:t>
                      </a: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Plan de validation indice : R00</a:t>
                      </a:r>
                      <a:endParaRPr lang="fr-FR" sz="1000" noProof="0" dirty="0">
                        <a:latin typeface="+mn-l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Client : ECEE</a:t>
                      </a:r>
                      <a:endParaRPr lang="fr-FR" sz="1000" noProof="0" dirty="0">
                        <a:latin typeface="+mn-l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Client : DIMMER SARL</a:t>
                      </a:r>
                      <a:endParaRPr lang="en-US" sz="1100"/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endParaRPr lang="en-US" sz="1000" dirty="0">
                        <a:latin typeface="+mn-l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496">
                <a:tc vMerge="1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260 rue des Barronnières</a:t>
                      </a:r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01700 - BEYNOST</a:t>
                      </a:r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Tel. +33 4 78 88 14 00</a:t>
                      </a: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solidFill>
                            <a:schemeClr val="tx1"/>
                          </a:solidFill>
                          <a:ea typeface="Montserrat Classic"/>
                          <a:cs typeface="Montserrat Classic"/>
                          <a:sym typeface="Montserrat Classic"/>
                        </a:rPr>
                        <a:t>MONTE-CHARGE</a:t>
                      </a:r>
                      <a:endParaRPr lang="fr-FR" sz="10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sym typeface="Montserrat"/>
                        </a:rPr>
                        <a:t>LD82040</a:t>
                      </a:r>
                      <a:endParaRPr lang="fr-FR" sz="1000" noProof="0" dirty="0">
                        <a:latin typeface="+mn-l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Page : </a:t>
                      </a:r>
                      <a:fld id="{0E42F1E9-8000-4297-845D-F31D9253C50F}" type="slidenum">
                        <a:rPr lang="fr-FR" sz="1000" noProof="0" smtClean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4</a:t>
                      </a:fld>
                      <a:endParaRPr lang="fr-FR" sz="1000" noProof="0" dirty="0">
                        <a:latin typeface="+mn-l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endParaRPr lang="en-US" sz="1000" dirty="0">
                        <a:latin typeface="+mn-l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30">
                <a:tc vMerge="1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260 rue des Barronnières</a:t>
                      </a:r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01700 - BEYNOST</a:t>
                      </a:r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Tel. +33 4 78 88 14 00</a:t>
                      </a: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Ce plan est la propriété de la Société Actiwork, toute reproduction, même partielle, sans l’accord au</a:t>
                      </a:r>
                    </a:p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préalable</a:t>
                      </a:r>
                      <a:r>
                        <a:rPr lang="fr-FR" sz="10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Montserrat"/>
                        </a:rPr>
                        <a:t> </a:t>
                      </a: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de cette dernière est formellement interdite et passible de poursuites judiciaires.</a:t>
                      </a: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Ce plan est la propriété de la Société Actiwork, toute la représentation même partielle sans l’accord au préalable</a:t>
                      </a: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cette dernière est formellement interdites et est passible de poursuites judiciaires</a:t>
                      </a: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Ce plan est la propriété de la Société Actiwork, toute la représentation même partielle sans l’accord au préalable</a:t>
                      </a:r>
                      <a:endParaRPr lang="en-US" sz="1100"/>
                    </a:p>
                    <a:p>
                      <a:pPr algn="ctr">
                        <a:lnSpc>
                          <a:spcPts val="1120"/>
                        </a:lnSpc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cette dernière est formellement interdites et est passible de poursuites judiciaires</a:t>
                      </a: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</a:pPr>
                      <a:endParaRPr lang="en-US" sz="1000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4" name="Image 13">
            <a:extLst>
              <a:ext uri="{FF2B5EF4-FFF2-40B4-BE49-F238E27FC236}">
                <a16:creationId xmlns:a16="http://schemas.microsoft.com/office/drawing/2014/main" id="{EAD75F87-C60E-9A38-1E23-61D7D87DE7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1480835" y="825348"/>
            <a:ext cx="7730329" cy="54933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C6988BC32E214CA4956593D137D832" ma:contentTypeVersion="11" ma:contentTypeDescription="Crée un document." ma:contentTypeScope="" ma:versionID="2ab58530c0a3e61af42728a048517c23">
  <xsd:schema xmlns:xsd="http://www.w3.org/2001/XMLSchema" xmlns:xs="http://www.w3.org/2001/XMLSchema" xmlns:p="http://schemas.microsoft.com/office/2006/metadata/properties" xmlns:ns2="abb2bada-24d3-46c1-998b-408882afb0bd" xmlns:ns3="4024cbcc-7e6d-4dad-a62b-9a9c78918daf" targetNamespace="http://schemas.microsoft.com/office/2006/metadata/properties" ma:root="true" ma:fieldsID="e1b24182289d561b4ec9e1da7c093c67" ns2:_="" ns3:_="">
    <xsd:import namespace="abb2bada-24d3-46c1-998b-408882afb0bd"/>
    <xsd:import namespace="4024cbcc-7e6d-4dad-a62b-9a9c78918d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b2bada-24d3-46c1-998b-408882afb0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alises d’images" ma:readOnly="false" ma:fieldId="{5cf76f15-5ced-4ddc-b409-7134ff3c332f}" ma:taxonomyMulti="true" ma:sspId="f79e0c7e-b42e-44b8-9145-835300b822d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4cbcc-7e6d-4dad-a62b-9a9c78918da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cda9069-7a3f-4ecd-aa7e-1632132a3a18}" ma:internalName="TaxCatchAll" ma:showField="CatchAllData" ma:web="4024cbcc-7e6d-4dad-a62b-9a9c78918d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bb2bada-24d3-46c1-998b-408882afb0bd">
      <Terms xmlns="http://schemas.microsoft.com/office/infopath/2007/PartnerControls"/>
    </lcf76f155ced4ddcb4097134ff3c332f>
    <TaxCatchAll xmlns="4024cbcc-7e6d-4dad-a62b-9a9c78918daf" xsi:nil="true"/>
  </documentManagement>
</p:properties>
</file>

<file path=customXml/itemProps1.xml><?xml version="1.0" encoding="utf-8"?>
<ds:datastoreItem xmlns:ds="http://schemas.openxmlformats.org/officeDocument/2006/customXml" ds:itemID="{78DAB452-D81B-4DE5-A3A3-F485170A26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bb2bada-24d3-46c1-998b-408882afb0bd"/>
    <ds:schemaRef ds:uri="4024cbcc-7e6d-4dad-a62b-9a9c78918d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51B5E7-0E4F-4D8B-9FD8-6350CBEFD4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1CB220-B046-4416-87E4-5F5CA39F6F49}">
  <ds:schemaRefs>
    <ds:schemaRef ds:uri="http://schemas.microsoft.com/office/2006/metadata/properties"/>
    <ds:schemaRef ds:uri="http://schemas.microsoft.com/office/infopath/2007/PartnerControls"/>
    <ds:schemaRef ds:uri="9af54461-38fb-4f45-9a3d-1d7cab8ac8db"/>
    <ds:schemaRef ds:uri="bb475093-df3d-4c89-ab6b-6fbd83805ac1"/>
    <ds:schemaRef ds:uri="abb2bada-24d3-46c1-998b-408882afb0bd"/>
    <ds:schemaRef ds:uri="4024cbcc-7e6d-4dad-a62b-9a9c78918da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</Words>
  <Application>Microsoft Office PowerPoint</Application>
  <PresentationFormat>Custom</PresentationFormat>
  <Paragraphs>117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 | Modèle plan de valdiation</dc:title>
  <cp:lastModifiedBy>Marin BOSQUIER | VERTICAL Monte-charge</cp:lastModifiedBy>
  <cp:revision>118</cp:revision>
  <dcterms:created xsi:type="dcterms:W3CDTF">2006-08-16T00:00:00Z</dcterms:created>
  <dcterms:modified xsi:type="dcterms:W3CDTF">2026-06-10T19:36:50Z</dcterms:modified>
  <dc:identifier>DAGcih9Zf3g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0x01010037C6988BC32E214CA4956593D137D832</vt:lpwstr>
  </property>
  <property fmtid="{D5CDD505-2E9C-101B-9397-08002B2CF9AE}" pid="3" name="MediaServiceImageTags">
    <vt:lpwstr/>
  </property>
</Properties>
</file>