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7556500" cx="10693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hpq0W4c8Ge8bmYjVewKWENMrFO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D99BE2-220F-48EA-A0BC-41225B6067CD}">
  <a:tblStyle styleId="{12D99BE2-220F-48EA-A0BC-41225B6067C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44600" y="1143000"/>
            <a:ext cx="4368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244600" y="1143000"/>
            <a:ext cx="4368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244600" y="1143000"/>
            <a:ext cx="4368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244600" y="1143000"/>
            <a:ext cx="4368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244600" y="1143000"/>
            <a:ext cx="4368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244600" y="1143000"/>
            <a:ext cx="4368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244600" y="1143000"/>
            <a:ext cx="4368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244600" y="1143000"/>
            <a:ext cx="4368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244600" y="1143000"/>
            <a:ext cx="4368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d6bb22723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ed6bb22723_0_5:notes"/>
          <p:cNvSpPr/>
          <p:nvPr>
            <p:ph idx="2" type="sldImg"/>
          </p:nvPr>
        </p:nvSpPr>
        <p:spPr>
          <a:xfrm>
            <a:off x="1244600" y="1143000"/>
            <a:ext cx="4368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6023964" y="-1750"/>
            <a:ext cx="3885336" cy="7560000"/>
          </a:xfrm>
          <a:custGeom>
            <a:rect b="b" l="l" r="r" t="t"/>
            <a:pathLst>
              <a:path extrusionOk="0" h="7560000" w="3885336">
                <a:moveTo>
                  <a:pt x="0" y="0"/>
                </a:moveTo>
                <a:lnTo>
                  <a:pt x="3885336" y="0"/>
                </a:lnTo>
                <a:lnTo>
                  <a:pt x="3885336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277" l="-111545" r="-157650" t="-936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b="0" l="33915" r="33915" t="0"/>
          <a:stretch/>
        </p:blipFill>
        <p:spPr>
          <a:xfrm rot="1827943">
            <a:off x="4472869" y="4723170"/>
            <a:ext cx="292333" cy="5093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" name="Google Shape;90;p1"/>
          <p:cNvGrpSpPr/>
          <p:nvPr/>
        </p:nvGrpSpPr>
        <p:grpSpPr>
          <a:xfrm>
            <a:off x="0" y="4485021"/>
            <a:ext cx="4619035" cy="3074979"/>
            <a:chOff x="0" y="-19050"/>
            <a:chExt cx="1806054" cy="1202325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1806054" cy="1183274"/>
            </a:xfrm>
            <a:custGeom>
              <a:rect b="b" l="l" r="r" t="t"/>
              <a:pathLst>
                <a:path extrusionOk="0" h="1183274" w="1806054">
                  <a:moveTo>
                    <a:pt x="0" y="0"/>
                  </a:moveTo>
                  <a:lnTo>
                    <a:pt x="1806054" y="0"/>
                  </a:lnTo>
                  <a:lnTo>
                    <a:pt x="1806054" y="1183274"/>
                  </a:lnTo>
                  <a:lnTo>
                    <a:pt x="0" y="1183274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0" y="-19050"/>
              <a:ext cx="1806054" cy="1202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550" lIns="46550" spcFirstLastPara="1" rIns="46550" wrap="square" tIns="46550">
              <a:noAutofit/>
            </a:bodyPr>
            <a:lstStyle/>
            <a:p>
              <a:pPr indent="0" lvl="0" marL="0" marR="0" rtl="0" algn="ctr">
                <a:lnSpc>
                  <a:spcPct val="71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"/>
          <p:cNvSpPr/>
          <p:nvPr/>
        </p:nvSpPr>
        <p:spPr>
          <a:xfrm>
            <a:off x="928027" y="5265587"/>
            <a:ext cx="1159409" cy="1159404"/>
          </a:xfrm>
          <a:custGeom>
            <a:rect b="b" l="l" r="r" t="t"/>
            <a:pathLst>
              <a:path extrusionOk="0" h="6349974" w="635000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56000" y="6558073"/>
            <a:ext cx="1503462" cy="364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6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Nadia</a:t>
            </a:r>
            <a:endParaRPr/>
          </a:p>
          <a:p>
            <a:pPr indent="0" lvl="0" marL="0" marR="0" rtl="0" algn="ctr">
              <a:lnSpc>
                <a:spcPct val="1076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+33 4 72 01 05 69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756000" y="2339275"/>
            <a:ext cx="4590700" cy="448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PLANS DE VALIDATION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756000" y="2731885"/>
            <a:ext cx="4590700" cy="448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N°LD64397 - R01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756000" y="3290104"/>
            <a:ext cx="4590700" cy="3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2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E11F1B"/>
                </a:solidFill>
                <a:latin typeface="Calibri"/>
                <a:ea typeface="Calibri"/>
                <a:cs typeface="Calibri"/>
                <a:sym typeface="Calibri"/>
              </a:rPr>
              <a:t>Monte-charge accompagné</a:t>
            </a:r>
            <a:endParaRPr sz="2200">
              <a:solidFill>
                <a:srgbClr val="E11F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1"/>
          <p:cNvGrpSpPr/>
          <p:nvPr/>
        </p:nvGrpSpPr>
        <p:grpSpPr>
          <a:xfrm>
            <a:off x="0" y="4234148"/>
            <a:ext cx="4874155" cy="599188"/>
            <a:chOff x="0" y="0"/>
            <a:chExt cx="1905806" cy="234284"/>
          </a:xfrm>
        </p:grpSpPr>
        <p:sp>
          <p:nvSpPr>
            <p:cNvPr id="99" name="Google Shape;99;p1"/>
            <p:cNvSpPr/>
            <p:nvPr/>
          </p:nvSpPr>
          <p:spPr>
            <a:xfrm>
              <a:off x="0" y="0"/>
              <a:ext cx="1905806" cy="234284"/>
            </a:xfrm>
            <a:custGeom>
              <a:rect b="b" l="l" r="r" t="t"/>
              <a:pathLst>
                <a:path extrusionOk="0" h="234284" w="1905806">
                  <a:moveTo>
                    <a:pt x="0" y="0"/>
                  </a:moveTo>
                  <a:lnTo>
                    <a:pt x="1905806" y="0"/>
                  </a:lnTo>
                  <a:lnTo>
                    <a:pt x="1905806" y="234284"/>
                  </a:lnTo>
                  <a:lnTo>
                    <a:pt x="0" y="234284"/>
                  </a:lnTo>
                  <a:close/>
                </a:path>
              </a:pathLst>
            </a:custGeom>
            <a:gradFill>
              <a:gsLst>
                <a:gs pos="0">
                  <a:srgbClr val="B8110E"/>
                </a:gs>
                <a:gs pos="100000">
                  <a:srgbClr val="E11F1B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0" y="19050"/>
              <a:ext cx="1905805" cy="2152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550" lIns="46550" spcFirstLastPara="1" rIns="46550" wrap="square" tIns="46550">
              <a:noAutofit/>
            </a:bodyPr>
            <a:lstStyle/>
            <a:p>
              <a:pPr indent="0" lvl="0" marL="0" marR="0" rtl="0" algn="ctr">
                <a:lnSpc>
                  <a:spcPct val="7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1"/>
          <p:cNvSpPr txBox="1"/>
          <p:nvPr/>
        </p:nvSpPr>
        <p:spPr>
          <a:xfrm>
            <a:off x="1274240" y="4414091"/>
            <a:ext cx="3089678" cy="269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 CONTACTS PROJET</a:t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756000" y="4365114"/>
            <a:ext cx="341600" cy="341600"/>
          </a:xfrm>
          <a:custGeom>
            <a:rect b="b" l="l" r="r" t="t"/>
            <a:pathLst>
              <a:path extrusionOk="0" h="341600" w="341600">
                <a:moveTo>
                  <a:pt x="0" y="0"/>
                </a:moveTo>
                <a:lnTo>
                  <a:pt x="341600" y="0"/>
                </a:lnTo>
                <a:lnTo>
                  <a:pt x="341600" y="341600"/>
                </a:lnTo>
                <a:lnTo>
                  <a:pt x="0" y="34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756000" y="756000"/>
            <a:ext cx="2145471" cy="1197563"/>
          </a:xfrm>
          <a:custGeom>
            <a:rect b="b" l="l" r="r" t="t"/>
            <a:pathLst>
              <a:path extrusionOk="0" h="1197563" w="2145471">
                <a:moveTo>
                  <a:pt x="0" y="0"/>
                </a:moveTo>
                <a:lnTo>
                  <a:pt x="2145471" y="0"/>
                </a:lnTo>
                <a:lnTo>
                  <a:pt x="2145471" y="1197563"/>
                </a:lnTo>
                <a:lnTo>
                  <a:pt x="0" y="1197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0" y="0"/>
            <a:ext cx="10692003" cy="756000"/>
            <a:chOff x="0" y="0"/>
            <a:chExt cx="3831772" cy="270933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3831772" cy="270933"/>
            </a:xfrm>
            <a:custGeom>
              <a:rect b="b" l="l" r="r" t="t"/>
              <a:pathLst>
                <a:path extrusionOk="0" h="270933" w="3831772">
                  <a:moveTo>
                    <a:pt x="0" y="0"/>
                  </a:moveTo>
                  <a:lnTo>
                    <a:pt x="3831772" y="0"/>
                  </a:lnTo>
                  <a:lnTo>
                    <a:pt x="383177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0" y="19050"/>
              <a:ext cx="3831771" cy="251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2"/>
          <p:cNvSpPr txBox="1"/>
          <p:nvPr/>
        </p:nvSpPr>
        <p:spPr>
          <a:xfrm>
            <a:off x="1209834" y="179348"/>
            <a:ext cx="5887351" cy="359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PLANS DE VALIDATION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 rot="-6301028">
            <a:off x="986044" y="330141"/>
            <a:ext cx="519580" cy="83081"/>
          </a:xfrm>
          <a:custGeom>
            <a:rect b="b" l="l" r="r" t="t"/>
            <a:pathLst>
              <a:path extrusionOk="0" h="83081" w="519580">
                <a:moveTo>
                  <a:pt x="0" y="0"/>
                </a:moveTo>
                <a:lnTo>
                  <a:pt x="519580" y="0"/>
                </a:lnTo>
                <a:lnTo>
                  <a:pt x="519580" y="83081"/>
                </a:lnTo>
                <a:lnTo>
                  <a:pt x="0" y="830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2351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2"/>
          <p:cNvCxnSpPr/>
          <p:nvPr/>
        </p:nvCxnSpPr>
        <p:spPr>
          <a:xfrm>
            <a:off x="1134728" y="116853"/>
            <a:ext cx="139242" cy="527932"/>
          </a:xfrm>
          <a:prstGeom prst="straightConnector1">
            <a:avLst/>
          </a:prstGeom>
          <a:noFill/>
          <a:ln cap="flat" cmpd="sng" w="9525">
            <a:solidFill>
              <a:srgbClr val="2D2A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2"/>
          <p:cNvSpPr/>
          <p:nvPr/>
        </p:nvSpPr>
        <p:spPr>
          <a:xfrm>
            <a:off x="370415" y="131869"/>
            <a:ext cx="492263" cy="492263"/>
          </a:xfrm>
          <a:custGeom>
            <a:rect b="b" l="l" r="r" t="t"/>
            <a:pathLst>
              <a:path extrusionOk="0" h="492263" w="492263">
                <a:moveTo>
                  <a:pt x="0" y="0"/>
                </a:moveTo>
                <a:lnTo>
                  <a:pt x="492262" y="0"/>
                </a:lnTo>
                <a:lnTo>
                  <a:pt x="492262" y="492262"/>
                </a:lnTo>
                <a:lnTo>
                  <a:pt x="0" y="492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2"/>
          <p:cNvGrpSpPr/>
          <p:nvPr/>
        </p:nvGrpSpPr>
        <p:grpSpPr>
          <a:xfrm>
            <a:off x="0" y="1038779"/>
            <a:ext cx="5202684" cy="444559"/>
            <a:chOff x="0" y="0"/>
            <a:chExt cx="1556374" cy="124802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1556374" cy="124802"/>
            </a:xfrm>
            <a:custGeom>
              <a:rect b="b" l="l" r="r" t="t"/>
              <a:pathLst>
                <a:path extrusionOk="0" h="124802" w="1556374">
                  <a:moveTo>
                    <a:pt x="0" y="0"/>
                  </a:moveTo>
                  <a:lnTo>
                    <a:pt x="1556374" y="0"/>
                  </a:lnTo>
                  <a:lnTo>
                    <a:pt x="1556374" y="124802"/>
                  </a:lnTo>
                  <a:lnTo>
                    <a:pt x="0" y="124802"/>
                  </a:lnTo>
                  <a:close/>
                </a:path>
              </a:pathLst>
            </a:custGeom>
            <a:gradFill>
              <a:gsLst>
                <a:gs pos="0">
                  <a:srgbClr val="B8110E"/>
                </a:gs>
                <a:gs pos="100000">
                  <a:srgbClr val="E11F1B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0" y="19050"/>
              <a:ext cx="1556374" cy="1057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2"/>
          <p:cNvSpPr txBox="1"/>
          <p:nvPr/>
        </p:nvSpPr>
        <p:spPr>
          <a:xfrm>
            <a:off x="5638268" y="1762110"/>
            <a:ext cx="4607299" cy="3387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Fonctionnement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Commandes : Boutons d’appel et envoi à chaque étage avec arrêt d’urgence et indicateur lumineux de position.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Panneau de commande à appui maintenu sur garde-corps plateforme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Tension de commande : 24 volts - IP 54</a:t>
            </a:r>
            <a:endParaRPr/>
          </a:p>
          <a:p>
            <a:pPr indent="0" lvl="0" marL="0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Détails et caractéristiques techniques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 de guidage : simple colonne 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Vérins hydrauliques type simple effet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Intensité de démarrage : 35A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Intensité de fonctionnement : 11A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Alimentation : 380 volts 3 Phases + Neutre + Terre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Armoire de commande et groupe hydraulique : 1000 mm x 800 mm H 2000 mm</a:t>
            </a:r>
            <a:endParaRPr/>
          </a:p>
          <a:p>
            <a:pPr indent="0" lvl="0" marL="0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Prérequis (à votre charge)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Circuit d’alimentation : 1 câble électrique d’environ 3 mètres, section 5g 4mm²  en attente à l’emplacement de l’armoire, groupe hydraulique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Protection électrique : Disjoncteur tétrapolaire (Phase et Neutre) 25A courbe D - Différentiel 300 mA type A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Chantier : Cheminement accès dégagé et zone de stockage à proximité de l’espace de travail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409733" y="1762110"/>
            <a:ext cx="4607299" cy="3541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Modèle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Capacité de charge : 1500 kg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Plateforme dimension : 2295 x 2980 mm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Course totale : 3340 mm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de niveaux : 2 (0 - 3540 mm)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d’accès : 3 (traversant)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Fixation murale : Fixation au sol et en gaine.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Fosse : hauteur 250 x largeur 2530 x longueur 3070mm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Vitesse : 0,10 m/s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Machinerie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Unité hydraulique : déportée avec 5 mètres de flexible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Puissance : 5,5 KW 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Taquets antidérive : électrique</a:t>
            </a:r>
            <a:endParaRPr/>
          </a:p>
          <a:p>
            <a:pPr indent="0" lvl="1" marL="10794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Accès paliers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Face principale : Niveaux 0 et 1, Porte hauteur 2130mm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Face opposée : Niveau 1, Porte hauteur 2110mm</a:t>
            </a:r>
            <a:endParaRPr/>
          </a:p>
          <a:p>
            <a:pPr indent="0" lvl="0" marL="0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Finition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Plate-forme : Gris anthracite RA7016 avec Tôle antidérapante 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Couleur structure : Gris anthracite RAL 7016</a:t>
            </a:r>
            <a:endParaRPr/>
          </a:p>
          <a:p>
            <a:pPr indent="-107950" lvl="1" marL="215899" marR="0" rtl="0" algn="just">
              <a:lnSpc>
                <a:spcPct val="9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Garde-corps gris clair RAL 9006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482558" y="1198402"/>
            <a:ext cx="4144062" cy="205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MONTE-CHARGE ACCOMPAGNÉ</a:t>
            </a:r>
            <a:endParaRPr/>
          </a:p>
        </p:txBody>
      </p:sp>
      <p:graphicFrame>
        <p:nvGraphicFramePr>
          <p:cNvPr id="121" name="Google Shape;121;p2"/>
          <p:cNvGraphicFramePr/>
          <p:nvPr/>
        </p:nvGraphicFramePr>
        <p:xfrm>
          <a:off x="4762" y="64708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{12D99BE2-220F-48EA-A0BC-41225B6067CD}</a:tableStyleId>
              </a:tblPr>
              <a:tblGrid>
                <a:gridCol w="2257800"/>
                <a:gridCol w="2931750"/>
                <a:gridCol w="1524000"/>
                <a:gridCol w="1371600"/>
                <a:gridCol w="2603500"/>
              </a:tblGrid>
              <a:tr h="233500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 rue des Barronnières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01700 - BEYNOST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Tel. +33 4 78 88 14 00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Dessinateur : MB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 de création : 10/03/2026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Bon pour fabrication.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Date :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Signature :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35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 de validation indice : 01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 : SMECTOM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vMerge="1"/>
              </a:tr>
              <a:tr h="2335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MONTE-CHARGE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LD64397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 : </a:t>
                      </a:r>
                      <a:fld id="{00000000-1234-1234-1234-123412341234}" type="slidenum"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‹#›</a:t>
                      </a:fld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85125">
                <a:tc v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 plan est la propriété de la Société Actiwork, toute reproduction, même partielle, sans l’accord au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préalable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cette dernière est formellement interdite et passible de poursuites judiciaires.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vMerge="1"/>
              </a:tr>
            </a:tbl>
          </a:graphicData>
        </a:graphic>
      </p:graphicFrame>
      <p:sp>
        <p:nvSpPr>
          <p:cNvPr id="122" name="Google Shape;122;p2"/>
          <p:cNvSpPr/>
          <p:nvPr/>
        </p:nvSpPr>
        <p:spPr>
          <a:xfrm>
            <a:off x="409733" y="6623726"/>
            <a:ext cx="1431767" cy="275941"/>
          </a:xfrm>
          <a:custGeom>
            <a:rect b="b" l="l" r="r" t="t"/>
            <a:pathLst>
              <a:path extrusionOk="0" h="275941" w="1431767">
                <a:moveTo>
                  <a:pt x="0" y="0"/>
                </a:moveTo>
                <a:lnTo>
                  <a:pt x="1431767" y="0"/>
                </a:lnTo>
                <a:lnTo>
                  <a:pt x="1431767" y="275941"/>
                </a:lnTo>
                <a:lnTo>
                  <a:pt x="0" y="275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3"/>
          <p:cNvGrpSpPr/>
          <p:nvPr/>
        </p:nvGrpSpPr>
        <p:grpSpPr>
          <a:xfrm>
            <a:off x="0" y="0"/>
            <a:ext cx="10692003" cy="756000"/>
            <a:chOff x="0" y="0"/>
            <a:chExt cx="3831772" cy="270933"/>
          </a:xfrm>
        </p:grpSpPr>
        <p:sp>
          <p:nvSpPr>
            <p:cNvPr id="128" name="Google Shape;128;p3"/>
            <p:cNvSpPr/>
            <p:nvPr/>
          </p:nvSpPr>
          <p:spPr>
            <a:xfrm>
              <a:off x="0" y="0"/>
              <a:ext cx="3831772" cy="270933"/>
            </a:xfrm>
            <a:custGeom>
              <a:rect b="b" l="l" r="r" t="t"/>
              <a:pathLst>
                <a:path extrusionOk="0" h="270933" w="3831772">
                  <a:moveTo>
                    <a:pt x="0" y="0"/>
                  </a:moveTo>
                  <a:lnTo>
                    <a:pt x="3831772" y="0"/>
                  </a:lnTo>
                  <a:lnTo>
                    <a:pt x="383177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3"/>
            <p:cNvSpPr txBox="1"/>
            <p:nvPr/>
          </p:nvSpPr>
          <p:spPr>
            <a:xfrm>
              <a:off x="0" y="19050"/>
              <a:ext cx="3831771" cy="251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3"/>
          <p:cNvSpPr txBox="1"/>
          <p:nvPr/>
        </p:nvSpPr>
        <p:spPr>
          <a:xfrm>
            <a:off x="1209834" y="179348"/>
            <a:ext cx="5887351" cy="359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PLANS DE VALIDATION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 rot="-6301028">
            <a:off x="986044" y="330141"/>
            <a:ext cx="519580" cy="83081"/>
          </a:xfrm>
          <a:custGeom>
            <a:rect b="b" l="l" r="r" t="t"/>
            <a:pathLst>
              <a:path extrusionOk="0" h="83081" w="519580">
                <a:moveTo>
                  <a:pt x="0" y="0"/>
                </a:moveTo>
                <a:lnTo>
                  <a:pt x="519580" y="0"/>
                </a:lnTo>
                <a:lnTo>
                  <a:pt x="519580" y="83081"/>
                </a:lnTo>
                <a:lnTo>
                  <a:pt x="0" y="830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2351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3"/>
          <p:cNvCxnSpPr/>
          <p:nvPr/>
        </p:nvCxnSpPr>
        <p:spPr>
          <a:xfrm>
            <a:off x="1134728" y="116853"/>
            <a:ext cx="139242" cy="527932"/>
          </a:xfrm>
          <a:prstGeom prst="straightConnector1">
            <a:avLst/>
          </a:prstGeom>
          <a:noFill/>
          <a:ln cap="flat" cmpd="sng" w="9525">
            <a:solidFill>
              <a:srgbClr val="2D2A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3"/>
          <p:cNvSpPr/>
          <p:nvPr/>
        </p:nvSpPr>
        <p:spPr>
          <a:xfrm>
            <a:off x="370415" y="131869"/>
            <a:ext cx="492263" cy="492263"/>
          </a:xfrm>
          <a:custGeom>
            <a:rect b="b" l="l" r="r" t="t"/>
            <a:pathLst>
              <a:path extrusionOk="0" h="492263" w="492263">
                <a:moveTo>
                  <a:pt x="0" y="0"/>
                </a:moveTo>
                <a:lnTo>
                  <a:pt x="492262" y="0"/>
                </a:lnTo>
                <a:lnTo>
                  <a:pt x="492262" y="492262"/>
                </a:lnTo>
                <a:lnTo>
                  <a:pt x="0" y="492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598455" y="6623726"/>
            <a:ext cx="1431767" cy="275941"/>
          </a:xfrm>
          <a:custGeom>
            <a:rect b="b" l="l" r="r" t="t"/>
            <a:pathLst>
              <a:path extrusionOk="0" h="275941" w="1431767">
                <a:moveTo>
                  <a:pt x="0" y="0"/>
                </a:moveTo>
                <a:lnTo>
                  <a:pt x="1431767" y="0"/>
                </a:lnTo>
                <a:lnTo>
                  <a:pt x="1431767" y="275941"/>
                </a:lnTo>
                <a:lnTo>
                  <a:pt x="0" y="275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5" name="Google Shape;135;p3"/>
          <p:cNvGraphicFramePr/>
          <p:nvPr/>
        </p:nvGraphicFramePr>
        <p:xfrm>
          <a:off x="4762" y="64708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{12D99BE2-220F-48EA-A0BC-41225B6067CD}</a:tableStyleId>
              </a:tblPr>
              <a:tblGrid>
                <a:gridCol w="2679675"/>
                <a:gridCol w="4037975"/>
                <a:gridCol w="1973800"/>
                <a:gridCol w="1997200"/>
              </a:tblGrid>
              <a:tr h="233500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 rue des Barronnières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01700 - BEYNOST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Tel. +33 4 78 88 14 00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Dessinateur : MB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 de création : 10/03/2026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335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 de validation indice : 01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 : SMECTOM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335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MONTE-CHARGE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LD64397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 : 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125">
                <a:tc v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 plan est la propriété de la Société Actiwork, toute la représentation même partielle sans l’accord au préalable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cette dernière est formellement interdites et est passible de poursuites judiciaires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pic>
        <p:nvPicPr>
          <p:cNvPr id="136" name="Google Shape;13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9820" y="812145"/>
            <a:ext cx="9992360" cy="5586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4"/>
          <p:cNvGrpSpPr/>
          <p:nvPr/>
        </p:nvGrpSpPr>
        <p:grpSpPr>
          <a:xfrm>
            <a:off x="0" y="0"/>
            <a:ext cx="10692003" cy="756000"/>
            <a:chOff x="0" y="0"/>
            <a:chExt cx="3831772" cy="270933"/>
          </a:xfrm>
        </p:grpSpPr>
        <p:sp>
          <p:nvSpPr>
            <p:cNvPr id="142" name="Google Shape;142;p4"/>
            <p:cNvSpPr/>
            <p:nvPr/>
          </p:nvSpPr>
          <p:spPr>
            <a:xfrm>
              <a:off x="0" y="0"/>
              <a:ext cx="3831772" cy="270933"/>
            </a:xfrm>
            <a:custGeom>
              <a:rect b="b" l="l" r="r" t="t"/>
              <a:pathLst>
                <a:path extrusionOk="0" h="270933" w="3831772">
                  <a:moveTo>
                    <a:pt x="0" y="0"/>
                  </a:moveTo>
                  <a:lnTo>
                    <a:pt x="3831772" y="0"/>
                  </a:lnTo>
                  <a:lnTo>
                    <a:pt x="383177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0" y="19050"/>
              <a:ext cx="3831771" cy="251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4"/>
          <p:cNvSpPr txBox="1"/>
          <p:nvPr/>
        </p:nvSpPr>
        <p:spPr>
          <a:xfrm>
            <a:off x="1209834" y="179348"/>
            <a:ext cx="5887351" cy="359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PLANS DE VALIDATION</a:t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 rot="-6301028">
            <a:off x="986044" y="330141"/>
            <a:ext cx="519580" cy="83081"/>
          </a:xfrm>
          <a:custGeom>
            <a:rect b="b" l="l" r="r" t="t"/>
            <a:pathLst>
              <a:path extrusionOk="0" h="83081" w="519580">
                <a:moveTo>
                  <a:pt x="0" y="0"/>
                </a:moveTo>
                <a:lnTo>
                  <a:pt x="519580" y="0"/>
                </a:lnTo>
                <a:lnTo>
                  <a:pt x="519580" y="83081"/>
                </a:lnTo>
                <a:lnTo>
                  <a:pt x="0" y="830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2351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4"/>
          <p:cNvCxnSpPr/>
          <p:nvPr/>
        </p:nvCxnSpPr>
        <p:spPr>
          <a:xfrm>
            <a:off x="1134728" y="116853"/>
            <a:ext cx="139242" cy="527932"/>
          </a:xfrm>
          <a:prstGeom prst="straightConnector1">
            <a:avLst/>
          </a:prstGeom>
          <a:noFill/>
          <a:ln cap="flat" cmpd="sng" w="9525">
            <a:solidFill>
              <a:srgbClr val="2D2A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4"/>
          <p:cNvSpPr/>
          <p:nvPr/>
        </p:nvSpPr>
        <p:spPr>
          <a:xfrm>
            <a:off x="370415" y="131869"/>
            <a:ext cx="492263" cy="492263"/>
          </a:xfrm>
          <a:custGeom>
            <a:rect b="b" l="l" r="r" t="t"/>
            <a:pathLst>
              <a:path extrusionOk="0" h="492263" w="492263">
                <a:moveTo>
                  <a:pt x="0" y="0"/>
                </a:moveTo>
                <a:lnTo>
                  <a:pt x="492262" y="0"/>
                </a:lnTo>
                <a:lnTo>
                  <a:pt x="492262" y="492262"/>
                </a:lnTo>
                <a:lnTo>
                  <a:pt x="0" y="492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598455" y="6623726"/>
            <a:ext cx="1431767" cy="275941"/>
          </a:xfrm>
          <a:custGeom>
            <a:rect b="b" l="l" r="r" t="t"/>
            <a:pathLst>
              <a:path extrusionOk="0" h="275941" w="1431767">
                <a:moveTo>
                  <a:pt x="0" y="0"/>
                </a:moveTo>
                <a:lnTo>
                  <a:pt x="1431767" y="0"/>
                </a:lnTo>
                <a:lnTo>
                  <a:pt x="1431767" y="275941"/>
                </a:lnTo>
                <a:lnTo>
                  <a:pt x="0" y="275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9" name="Google Shape;149;p4"/>
          <p:cNvGraphicFramePr/>
          <p:nvPr/>
        </p:nvGraphicFramePr>
        <p:xfrm>
          <a:off x="4762" y="64708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{12D99BE2-220F-48EA-A0BC-41225B6067CD}</a:tableStyleId>
              </a:tblPr>
              <a:tblGrid>
                <a:gridCol w="2679675"/>
                <a:gridCol w="4037975"/>
                <a:gridCol w="1973800"/>
                <a:gridCol w="1997200"/>
              </a:tblGrid>
              <a:tr h="233500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 rue des Barronnières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01700 - BEYNOST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Tel. +33 4 78 88 14 00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Dessinateur : MB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 de création : 10/03/2026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335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 de validation indice : 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 : SMECTOM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335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MONTE-CHARGE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LD64397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 : 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125">
                <a:tc v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 plan est la propriété de la Société Actiwork, toute la représentation même partielle sans l’accord au préalable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cette dernière est formellement interdites et est passible de poursuites judiciaires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pic>
        <p:nvPicPr>
          <p:cNvPr id="150" name="Google Shape;15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902125"/>
            <a:ext cx="10668000" cy="4436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12900" y="908844"/>
            <a:ext cx="2274222" cy="2084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5"/>
          <p:cNvGrpSpPr/>
          <p:nvPr/>
        </p:nvGrpSpPr>
        <p:grpSpPr>
          <a:xfrm>
            <a:off x="0" y="0"/>
            <a:ext cx="10692003" cy="756000"/>
            <a:chOff x="0" y="0"/>
            <a:chExt cx="3831772" cy="270933"/>
          </a:xfrm>
        </p:grpSpPr>
        <p:sp>
          <p:nvSpPr>
            <p:cNvPr id="157" name="Google Shape;157;p5"/>
            <p:cNvSpPr/>
            <p:nvPr/>
          </p:nvSpPr>
          <p:spPr>
            <a:xfrm>
              <a:off x="0" y="0"/>
              <a:ext cx="3831772" cy="270933"/>
            </a:xfrm>
            <a:custGeom>
              <a:rect b="b" l="l" r="r" t="t"/>
              <a:pathLst>
                <a:path extrusionOk="0" h="270933" w="3831772">
                  <a:moveTo>
                    <a:pt x="0" y="0"/>
                  </a:moveTo>
                  <a:lnTo>
                    <a:pt x="3831772" y="0"/>
                  </a:lnTo>
                  <a:lnTo>
                    <a:pt x="383177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5"/>
            <p:cNvSpPr txBox="1"/>
            <p:nvPr/>
          </p:nvSpPr>
          <p:spPr>
            <a:xfrm>
              <a:off x="0" y="19050"/>
              <a:ext cx="3831771" cy="251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5"/>
          <p:cNvSpPr txBox="1"/>
          <p:nvPr/>
        </p:nvSpPr>
        <p:spPr>
          <a:xfrm>
            <a:off x="1209834" y="179348"/>
            <a:ext cx="5887351" cy="359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PLANS DE VALIDATION</a:t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 rot="-6301028">
            <a:off x="986044" y="330141"/>
            <a:ext cx="519580" cy="83081"/>
          </a:xfrm>
          <a:custGeom>
            <a:rect b="b" l="l" r="r" t="t"/>
            <a:pathLst>
              <a:path extrusionOk="0" h="83081" w="519580">
                <a:moveTo>
                  <a:pt x="0" y="0"/>
                </a:moveTo>
                <a:lnTo>
                  <a:pt x="519580" y="0"/>
                </a:lnTo>
                <a:lnTo>
                  <a:pt x="519580" y="83081"/>
                </a:lnTo>
                <a:lnTo>
                  <a:pt x="0" y="830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2351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5"/>
          <p:cNvCxnSpPr/>
          <p:nvPr/>
        </p:nvCxnSpPr>
        <p:spPr>
          <a:xfrm>
            <a:off x="1134728" y="116853"/>
            <a:ext cx="139242" cy="527932"/>
          </a:xfrm>
          <a:prstGeom prst="straightConnector1">
            <a:avLst/>
          </a:prstGeom>
          <a:noFill/>
          <a:ln cap="flat" cmpd="sng" w="9525">
            <a:solidFill>
              <a:srgbClr val="2D2A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5"/>
          <p:cNvSpPr/>
          <p:nvPr/>
        </p:nvSpPr>
        <p:spPr>
          <a:xfrm>
            <a:off x="370415" y="131869"/>
            <a:ext cx="492263" cy="492263"/>
          </a:xfrm>
          <a:custGeom>
            <a:rect b="b" l="l" r="r" t="t"/>
            <a:pathLst>
              <a:path extrusionOk="0" h="492263" w="492263">
                <a:moveTo>
                  <a:pt x="0" y="0"/>
                </a:moveTo>
                <a:lnTo>
                  <a:pt x="492262" y="0"/>
                </a:lnTo>
                <a:lnTo>
                  <a:pt x="492262" y="492262"/>
                </a:lnTo>
                <a:lnTo>
                  <a:pt x="0" y="492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98455" y="6623726"/>
            <a:ext cx="1431767" cy="275941"/>
          </a:xfrm>
          <a:custGeom>
            <a:rect b="b" l="l" r="r" t="t"/>
            <a:pathLst>
              <a:path extrusionOk="0" h="275941" w="1431767">
                <a:moveTo>
                  <a:pt x="0" y="0"/>
                </a:moveTo>
                <a:lnTo>
                  <a:pt x="1431767" y="0"/>
                </a:lnTo>
                <a:lnTo>
                  <a:pt x="1431767" y="275941"/>
                </a:lnTo>
                <a:lnTo>
                  <a:pt x="0" y="275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4" name="Google Shape;164;p5"/>
          <p:cNvGraphicFramePr/>
          <p:nvPr/>
        </p:nvGraphicFramePr>
        <p:xfrm>
          <a:off x="4762" y="64708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{12D99BE2-220F-48EA-A0BC-41225B6067CD}</a:tableStyleId>
              </a:tblPr>
              <a:tblGrid>
                <a:gridCol w="2679675"/>
                <a:gridCol w="4037975"/>
                <a:gridCol w="1973800"/>
                <a:gridCol w="1997200"/>
              </a:tblGrid>
              <a:tr h="233500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 rue des Barronnières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01700 - BEYNOST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Tel. +33 4 78 88 14 00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Dessinateur : MB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 de création : 10/03/2026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335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 de validation indice : 01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 : SMECTOM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335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MONTE-CHARGE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LD64397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 : 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125">
                <a:tc v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 plan est la propriété de la Société Actiwork, toute la représentation même partielle sans l’accord au préalable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cette dernière est formellement interdites et est passible de poursuites judiciaires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pic>
        <p:nvPicPr>
          <p:cNvPr id="165" name="Google Shape;16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9227" y="853527"/>
            <a:ext cx="10094945" cy="5444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6"/>
          <p:cNvGrpSpPr/>
          <p:nvPr/>
        </p:nvGrpSpPr>
        <p:grpSpPr>
          <a:xfrm>
            <a:off x="0" y="0"/>
            <a:ext cx="10692003" cy="756000"/>
            <a:chOff x="0" y="0"/>
            <a:chExt cx="3831772" cy="270933"/>
          </a:xfrm>
        </p:grpSpPr>
        <p:sp>
          <p:nvSpPr>
            <p:cNvPr id="171" name="Google Shape;171;p6"/>
            <p:cNvSpPr/>
            <p:nvPr/>
          </p:nvSpPr>
          <p:spPr>
            <a:xfrm>
              <a:off x="0" y="0"/>
              <a:ext cx="3831772" cy="270933"/>
            </a:xfrm>
            <a:custGeom>
              <a:rect b="b" l="l" r="r" t="t"/>
              <a:pathLst>
                <a:path extrusionOk="0" h="270933" w="3831772">
                  <a:moveTo>
                    <a:pt x="0" y="0"/>
                  </a:moveTo>
                  <a:lnTo>
                    <a:pt x="3831772" y="0"/>
                  </a:lnTo>
                  <a:lnTo>
                    <a:pt x="383177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6"/>
            <p:cNvSpPr txBox="1"/>
            <p:nvPr/>
          </p:nvSpPr>
          <p:spPr>
            <a:xfrm>
              <a:off x="0" y="19050"/>
              <a:ext cx="3831771" cy="251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p6"/>
          <p:cNvSpPr txBox="1"/>
          <p:nvPr/>
        </p:nvSpPr>
        <p:spPr>
          <a:xfrm>
            <a:off x="1209834" y="179348"/>
            <a:ext cx="5887351" cy="359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PLANS DE VALIDATION</a:t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 rot="-6301028">
            <a:off x="986044" y="330141"/>
            <a:ext cx="519580" cy="83081"/>
          </a:xfrm>
          <a:custGeom>
            <a:rect b="b" l="l" r="r" t="t"/>
            <a:pathLst>
              <a:path extrusionOk="0" h="83081" w="519580">
                <a:moveTo>
                  <a:pt x="0" y="0"/>
                </a:moveTo>
                <a:lnTo>
                  <a:pt x="519580" y="0"/>
                </a:lnTo>
                <a:lnTo>
                  <a:pt x="519580" y="83081"/>
                </a:lnTo>
                <a:lnTo>
                  <a:pt x="0" y="830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2351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6"/>
          <p:cNvCxnSpPr/>
          <p:nvPr/>
        </p:nvCxnSpPr>
        <p:spPr>
          <a:xfrm>
            <a:off x="1134728" y="116853"/>
            <a:ext cx="139242" cy="527932"/>
          </a:xfrm>
          <a:prstGeom prst="straightConnector1">
            <a:avLst/>
          </a:prstGeom>
          <a:noFill/>
          <a:ln cap="flat" cmpd="sng" w="9525">
            <a:solidFill>
              <a:srgbClr val="2D2A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6"/>
          <p:cNvSpPr/>
          <p:nvPr/>
        </p:nvSpPr>
        <p:spPr>
          <a:xfrm>
            <a:off x="370415" y="131869"/>
            <a:ext cx="492263" cy="492263"/>
          </a:xfrm>
          <a:custGeom>
            <a:rect b="b" l="l" r="r" t="t"/>
            <a:pathLst>
              <a:path extrusionOk="0" h="492263" w="492263">
                <a:moveTo>
                  <a:pt x="0" y="0"/>
                </a:moveTo>
                <a:lnTo>
                  <a:pt x="492262" y="0"/>
                </a:lnTo>
                <a:lnTo>
                  <a:pt x="492262" y="492262"/>
                </a:lnTo>
                <a:lnTo>
                  <a:pt x="0" y="492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98455" y="6623726"/>
            <a:ext cx="1431767" cy="275941"/>
          </a:xfrm>
          <a:custGeom>
            <a:rect b="b" l="l" r="r" t="t"/>
            <a:pathLst>
              <a:path extrusionOk="0" h="275941" w="1431767">
                <a:moveTo>
                  <a:pt x="0" y="0"/>
                </a:moveTo>
                <a:lnTo>
                  <a:pt x="1431767" y="0"/>
                </a:lnTo>
                <a:lnTo>
                  <a:pt x="1431767" y="275941"/>
                </a:lnTo>
                <a:lnTo>
                  <a:pt x="0" y="275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8" name="Google Shape;178;p6"/>
          <p:cNvGraphicFramePr/>
          <p:nvPr/>
        </p:nvGraphicFramePr>
        <p:xfrm>
          <a:off x="4762" y="64708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{12D99BE2-220F-48EA-A0BC-41225B6067CD}</a:tableStyleId>
              </a:tblPr>
              <a:tblGrid>
                <a:gridCol w="2679675"/>
                <a:gridCol w="4037975"/>
                <a:gridCol w="1973800"/>
                <a:gridCol w="1997200"/>
              </a:tblGrid>
              <a:tr h="233500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 rue des Barronnières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01700 - BEYNOST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Tel. +33 4 78 88 14 00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Dessinateur : MB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 de création : 10/03/2026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335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 de validation indice : 01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 : SMECTOM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335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MONTE-CHARGE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LD64397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 : 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125">
                <a:tc v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 plan est la propriété de la Société Actiwork, toute la représentation même partielle sans l’accord au préalable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cette dernière est formellement interdites et est passible de poursuites judiciaires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pic>
        <p:nvPicPr>
          <p:cNvPr descr="Une image contenant diagramme, Dessin technique, croquis, Plan&#10;&#10;Le contenu généré par l’IA peut être incorrect." id="179" name="Google Shape;17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778339"/>
            <a:ext cx="10693400" cy="3999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7"/>
          <p:cNvGrpSpPr/>
          <p:nvPr/>
        </p:nvGrpSpPr>
        <p:grpSpPr>
          <a:xfrm>
            <a:off x="0" y="0"/>
            <a:ext cx="10692003" cy="756000"/>
            <a:chOff x="0" y="0"/>
            <a:chExt cx="3831772" cy="270933"/>
          </a:xfrm>
        </p:grpSpPr>
        <p:sp>
          <p:nvSpPr>
            <p:cNvPr id="185" name="Google Shape;185;p7"/>
            <p:cNvSpPr/>
            <p:nvPr/>
          </p:nvSpPr>
          <p:spPr>
            <a:xfrm>
              <a:off x="0" y="0"/>
              <a:ext cx="3831772" cy="270933"/>
            </a:xfrm>
            <a:custGeom>
              <a:rect b="b" l="l" r="r" t="t"/>
              <a:pathLst>
                <a:path extrusionOk="0" h="270933" w="3831772">
                  <a:moveTo>
                    <a:pt x="0" y="0"/>
                  </a:moveTo>
                  <a:lnTo>
                    <a:pt x="3831772" y="0"/>
                  </a:lnTo>
                  <a:lnTo>
                    <a:pt x="383177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7"/>
            <p:cNvSpPr txBox="1"/>
            <p:nvPr/>
          </p:nvSpPr>
          <p:spPr>
            <a:xfrm>
              <a:off x="0" y="19050"/>
              <a:ext cx="3831771" cy="251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7"/>
          <p:cNvSpPr txBox="1"/>
          <p:nvPr/>
        </p:nvSpPr>
        <p:spPr>
          <a:xfrm>
            <a:off x="1209834" y="179348"/>
            <a:ext cx="5887351" cy="359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PLANS DE VALIDATION</a:t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 rot="-6301028">
            <a:off x="986044" y="330141"/>
            <a:ext cx="519580" cy="83081"/>
          </a:xfrm>
          <a:custGeom>
            <a:rect b="b" l="l" r="r" t="t"/>
            <a:pathLst>
              <a:path extrusionOk="0" h="83081" w="519580">
                <a:moveTo>
                  <a:pt x="0" y="0"/>
                </a:moveTo>
                <a:lnTo>
                  <a:pt x="519580" y="0"/>
                </a:lnTo>
                <a:lnTo>
                  <a:pt x="519580" y="83081"/>
                </a:lnTo>
                <a:lnTo>
                  <a:pt x="0" y="830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2351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7"/>
          <p:cNvCxnSpPr/>
          <p:nvPr/>
        </p:nvCxnSpPr>
        <p:spPr>
          <a:xfrm>
            <a:off x="1134728" y="116853"/>
            <a:ext cx="139242" cy="527932"/>
          </a:xfrm>
          <a:prstGeom prst="straightConnector1">
            <a:avLst/>
          </a:prstGeom>
          <a:noFill/>
          <a:ln cap="flat" cmpd="sng" w="9525">
            <a:solidFill>
              <a:srgbClr val="2D2A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7"/>
          <p:cNvSpPr/>
          <p:nvPr/>
        </p:nvSpPr>
        <p:spPr>
          <a:xfrm>
            <a:off x="370415" y="131869"/>
            <a:ext cx="492263" cy="492263"/>
          </a:xfrm>
          <a:custGeom>
            <a:rect b="b" l="l" r="r" t="t"/>
            <a:pathLst>
              <a:path extrusionOk="0" h="492263" w="492263">
                <a:moveTo>
                  <a:pt x="0" y="0"/>
                </a:moveTo>
                <a:lnTo>
                  <a:pt x="492262" y="0"/>
                </a:lnTo>
                <a:lnTo>
                  <a:pt x="492262" y="492262"/>
                </a:lnTo>
                <a:lnTo>
                  <a:pt x="0" y="492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98455" y="6623726"/>
            <a:ext cx="1431767" cy="275941"/>
          </a:xfrm>
          <a:custGeom>
            <a:rect b="b" l="l" r="r" t="t"/>
            <a:pathLst>
              <a:path extrusionOk="0" h="275941" w="1431767">
                <a:moveTo>
                  <a:pt x="0" y="0"/>
                </a:moveTo>
                <a:lnTo>
                  <a:pt x="1431767" y="0"/>
                </a:lnTo>
                <a:lnTo>
                  <a:pt x="1431767" y="275941"/>
                </a:lnTo>
                <a:lnTo>
                  <a:pt x="0" y="275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2" name="Google Shape;192;p7"/>
          <p:cNvGraphicFramePr/>
          <p:nvPr/>
        </p:nvGraphicFramePr>
        <p:xfrm>
          <a:off x="4762" y="64708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{12D99BE2-220F-48EA-A0BC-41225B6067CD}</a:tableStyleId>
              </a:tblPr>
              <a:tblGrid>
                <a:gridCol w="2679675"/>
                <a:gridCol w="4037975"/>
                <a:gridCol w="1973800"/>
                <a:gridCol w="1997200"/>
              </a:tblGrid>
              <a:tr h="233500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 rue des Barronnières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01700 - BEYNOST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Tel. +33 4 78 88 14 00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Dessinateur : MB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 de création : 10/02/2026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335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 de validation indice : 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 : SMECTOM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335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MONTE-CHARGE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LD64397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 : 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125">
                <a:tc v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 plan est la propriété de la Société Actiwork, toute la représentation même partielle sans l’accord au préalable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cette dernière est formellement interdites et est passible de poursuites judiciaires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pic>
        <p:nvPicPr>
          <p:cNvPr descr="Une image contenant diagramme, texte, Dessin technique, Plan&#10;&#10;Le contenu généré par l’IA peut être incorrect." id="193" name="Google Shape;19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625823"/>
            <a:ext cx="10693400" cy="4304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8"/>
          <p:cNvGrpSpPr/>
          <p:nvPr/>
        </p:nvGrpSpPr>
        <p:grpSpPr>
          <a:xfrm>
            <a:off x="0" y="0"/>
            <a:ext cx="10692003" cy="756000"/>
            <a:chOff x="0" y="0"/>
            <a:chExt cx="3831772" cy="270933"/>
          </a:xfrm>
        </p:grpSpPr>
        <p:sp>
          <p:nvSpPr>
            <p:cNvPr id="199" name="Google Shape;199;p8"/>
            <p:cNvSpPr/>
            <p:nvPr/>
          </p:nvSpPr>
          <p:spPr>
            <a:xfrm>
              <a:off x="0" y="0"/>
              <a:ext cx="3831772" cy="270933"/>
            </a:xfrm>
            <a:custGeom>
              <a:rect b="b" l="l" r="r" t="t"/>
              <a:pathLst>
                <a:path extrusionOk="0" h="270933" w="3831772">
                  <a:moveTo>
                    <a:pt x="0" y="0"/>
                  </a:moveTo>
                  <a:lnTo>
                    <a:pt x="3831772" y="0"/>
                  </a:lnTo>
                  <a:lnTo>
                    <a:pt x="383177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8"/>
            <p:cNvSpPr txBox="1"/>
            <p:nvPr/>
          </p:nvSpPr>
          <p:spPr>
            <a:xfrm>
              <a:off x="0" y="19050"/>
              <a:ext cx="3831771" cy="251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8"/>
          <p:cNvSpPr txBox="1"/>
          <p:nvPr/>
        </p:nvSpPr>
        <p:spPr>
          <a:xfrm>
            <a:off x="1209834" y="179348"/>
            <a:ext cx="5887351" cy="359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PLANS DE VALIDATION</a:t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 rot="-6301028">
            <a:off x="986044" y="330141"/>
            <a:ext cx="519580" cy="83081"/>
          </a:xfrm>
          <a:custGeom>
            <a:rect b="b" l="l" r="r" t="t"/>
            <a:pathLst>
              <a:path extrusionOk="0" h="83081" w="519580">
                <a:moveTo>
                  <a:pt x="0" y="0"/>
                </a:moveTo>
                <a:lnTo>
                  <a:pt x="519580" y="0"/>
                </a:lnTo>
                <a:lnTo>
                  <a:pt x="519580" y="83081"/>
                </a:lnTo>
                <a:lnTo>
                  <a:pt x="0" y="830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2351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8"/>
          <p:cNvCxnSpPr/>
          <p:nvPr/>
        </p:nvCxnSpPr>
        <p:spPr>
          <a:xfrm>
            <a:off x="1134728" y="116853"/>
            <a:ext cx="139242" cy="527932"/>
          </a:xfrm>
          <a:prstGeom prst="straightConnector1">
            <a:avLst/>
          </a:prstGeom>
          <a:noFill/>
          <a:ln cap="flat" cmpd="sng" w="9525">
            <a:solidFill>
              <a:srgbClr val="2D2A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8"/>
          <p:cNvSpPr/>
          <p:nvPr/>
        </p:nvSpPr>
        <p:spPr>
          <a:xfrm>
            <a:off x="370415" y="131869"/>
            <a:ext cx="492263" cy="492263"/>
          </a:xfrm>
          <a:custGeom>
            <a:rect b="b" l="l" r="r" t="t"/>
            <a:pathLst>
              <a:path extrusionOk="0" h="492263" w="492263">
                <a:moveTo>
                  <a:pt x="0" y="0"/>
                </a:moveTo>
                <a:lnTo>
                  <a:pt x="492262" y="0"/>
                </a:lnTo>
                <a:lnTo>
                  <a:pt x="492262" y="492262"/>
                </a:lnTo>
                <a:lnTo>
                  <a:pt x="0" y="492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598455" y="6623726"/>
            <a:ext cx="1431767" cy="275941"/>
          </a:xfrm>
          <a:custGeom>
            <a:rect b="b" l="l" r="r" t="t"/>
            <a:pathLst>
              <a:path extrusionOk="0" h="275941" w="1431767">
                <a:moveTo>
                  <a:pt x="0" y="0"/>
                </a:moveTo>
                <a:lnTo>
                  <a:pt x="1431767" y="0"/>
                </a:lnTo>
                <a:lnTo>
                  <a:pt x="1431767" y="275941"/>
                </a:lnTo>
                <a:lnTo>
                  <a:pt x="0" y="275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6" name="Google Shape;206;p8"/>
          <p:cNvGraphicFramePr/>
          <p:nvPr/>
        </p:nvGraphicFramePr>
        <p:xfrm>
          <a:off x="4762" y="64708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{12D99BE2-220F-48EA-A0BC-41225B6067CD}</a:tableStyleId>
              </a:tblPr>
              <a:tblGrid>
                <a:gridCol w="2679675"/>
                <a:gridCol w="4037975"/>
                <a:gridCol w="1973800"/>
                <a:gridCol w="1997200"/>
              </a:tblGrid>
              <a:tr h="233500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 rue des Barronnières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01700 - BEYNOST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Tel. +33 4 78 88 14 00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Dessinateur : MB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 de création : 10/02/2026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335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 de validation indice : 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 : SMECTOM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335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MONTE-CHARGE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LD64397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 : 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125">
                <a:tc v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 plan est la propriété de la Société Actiwork, toute la représentation même partielle sans l’accord au préalable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cette dernière est formellement interdites et est passible de poursuites judiciaires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pic>
        <p:nvPicPr>
          <p:cNvPr descr="Une image contenant diagramme, Rectangle, ligne, Dessin technique&#10;&#10;Le contenu généré par l’IA peut être incorrect." id="207" name="Google Shape;20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2535156" y="840085"/>
            <a:ext cx="5621687" cy="5453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g3ed6bb22723_0_5"/>
          <p:cNvGrpSpPr/>
          <p:nvPr/>
        </p:nvGrpSpPr>
        <p:grpSpPr>
          <a:xfrm>
            <a:off x="0" y="0"/>
            <a:ext cx="10692534" cy="756338"/>
            <a:chOff x="0" y="0"/>
            <a:chExt cx="3831900" cy="271050"/>
          </a:xfrm>
        </p:grpSpPr>
        <p:sp>
          <p:nvSpPr>
            <p:cNvPr id="213" name="Google Shape;213;g3ed6bb22723_0_5"/>
            <p:cNvSpPr/>
            <p:nvPr/>
          </p:nvSpPr>
          <p:spPr>
            <a:xfrm>
              <a:off x="0" y="0"/>
              <a:ext cx="3831772" cy="270933"/>
            </a:xfrm>
            <a:custGeom>
              <a:rect b="b" l="l" r="r" t="t"/>
              <a:pathLst>
                <a:path extrusionOk="0" h="270933" w="3831772">
                  <a:moveTo>
                    <a:pt x="0" y="0"/>
                  </a:moveTo>
                  <a:lnTo>
                    <a:pt x="3831772" y="0"/>
                  </a:lnTo>
                  <a:lnTo>
                    <a:pt x="383177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g3ed6bb22723_0_5"/>
            <p:cNvSpPr txBox="1"/>
            <p:nvPr/>
          </p:nvSpPr>
          <p:spPr>
            <a:xfrm>
              <a:off x="0" y="19050"/>
              <a:ext cx="38319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g3ed6bb22723_0_5"/>
          <p:cNvSpPr txBox="1"/>
          <p:nvPr/>
        </p:nvSpPr>
        <p:spPr>
          <a:xfrm>
            <a:off x="1209834" y="179348"/>
            <a:ext cx="5887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PLANS DE VALIDATION</a:t>
            </a:r>
            <a:endParaRPr/>
          </a:p>
        </p:txBody>
      </p:sp>
      <p:sp>
        <p:nvSpPr>
          <p:cNvPr id="216" name="Google Shape;216;g3ed6bb22723_0_5"/>
          <p:cNvSpPr/>
          <p:nvPr/>
        </p:nvSpPr>
        <p:spPr>
          <a:xfrm rot="-6304748">
            <a:off x="985930" y="330349"/>
            <a:ext cx="519275" cy="83032"/>
          </a:xfrm>
          <a:custGeom>
            <a:rect b="b" l="l" r="r" t="t"/>
            <a:pathLst>
              <a:path extrusionOk="0" h="83081" w="519580">
                <a:moveTo>
                  <a:pt x="0" y="0"/>
                </a:moveTo>
                <a:lnTo>
                  <a:pt x="519580" y="0"/>
                </a:lnTo>
                <a:lnTo>
                  <a:pt x="519580" y="83081"/>
                </a:lnTo>
                <a:lnTo>
                  <a:pt x="0" y="830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235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g3ed6bb22723_0_5"/>
          <p:cNvCxnSpPr/>
          <p:nvPr/>
        </p:nvCxnSpPr>
        <p:spPr>
          <a:xfrm>
            <a:off x="1134728" y="116853"/>
            <a:ext cx="139200" cy="528000"/>
          </a:xfrm>
          <a:prstGeom prst="straightConnector1">
            <a:avLst/>
          </a:prstGeom>
          <a:noFill/>
          <a:ln cap="flat" cmpd="sng" w="9525">
            <a:solidFill>
              <a:srgbClr val="2D2A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g3ed6bb22723_0_5"/>
          <p:cNvSpPr/>
          <p:nvPr/>
        </p:nvSpPr>
        <p:spPr>
          <a:xfrm>
            <a:off x="370415" y="131869"/>
            <a:ext cx="492263" cy="492263"/>
          </a:xfrm>
          <a:custGeom>
            <a:rect b="b" l="l" r="r" t="t"/>
            <a:pathLst>
              <a:path extrusionOk="0" h="492263" w="492263">
                <a:moveTo>
                  <a:pt x="0" y="0"/>
                </a:moveTo>
                <a:lnTo>
                  <a:pt x="492262" y="0"/>
                </a:lnTo>
                <a:lnTo>
                  <a:pt x="492262" y="492262"/>
                </a:lnTo>
                <a:lnTo>
                  <a:pt x="0" y="492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ed6bb22723_0_5"/>
          <p:cNvSpPr/>
          <p:nvPr/>
        </p:nvSpPr>
        <p:spPr>
          <a:xfrm>
            <a:off x="598455" y="6623726"/>
            <a:ext cx="1431767" cy="275941"/>
          </a:xfrm>
          <a:custGeom>
            <a:rect b="b" l="l" r="r" t="t"/>
            <a:pathLst>
              <a:path extrusionOk="0" h="275941" w="1431767">
                <a:moveTo>
                  <a:pt x="0" y="0"/>
                </a:moveTo>
                <a:lnTo>
                  <a:pt x="1431767" y="0"/>
                </a:lnTo>
                <a:lnTo>
                  <a:pt x="1431767" y="275941"/>
                </a:lnTo>
                <a:lnTo>
                  <a:pt x="0" y="275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0" name="Google Shape;220;g3ed6bb22723_0_5"/>
          <p:cNvGraphicFramePr/>
          <p:nvPr/>
        </p:nvGraphicFramePr>
        <p:xfrm>
          <a:off x="4762" y="64708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{12D99BE2-220F-48EA-A0BC-41225B6067CD}</a:tableStyleId>
              </a:tblPr>
              <a:tblGrid>
                <a:gridCol w="2679675"/>
                <a:gridCol w="4037975"/>
                <a:gridCol w="1973800"/>
                <a:gridCol w="1997200"/>
              </a:tblGrid>
              <a:tr h="233500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 rue des Barronnières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01700 - BEYNOST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Tel. +33 4 78 88 14 00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Dessinateur : MB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 de création : 10/02/2026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335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 de validation indice : 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 : SMECTOM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335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MONTE-CHARGE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LD64397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 : 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125">
                <a:tc v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 plan est la propriété de la Société Actiwork, toute la représentation même partielle sans l’accord au préalable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cette dernière est formellement interdites et est passible de poursuites judiciaires</a:t>
                      </a:r>
                      <a:endParaRPr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pic>
        <p:nvPicPr>
          <p:cNvPr id="221" name="Google Shape;221;g3ed6bb22723_0_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7925" y="756350"/>
            <a:ext cx="8043688" cy="569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0x01010037C6988BC32E214CA4956593D137D832</vt:lpwstr>
  </property>
  <property fmtid="{D5CDD505-2E9C-101B-9397-08002B2CF9AE}" pid="3" name="MediaServiceImageTags">
    <vt:lpwstr/>
  </property>
</Properties>
</file>